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915f97f4a74de3" /><Relationship Type="http://schemas.openxmlformats.org/officeDocument/2006/relationships/extended-properties" Target="/docProps/app.xml" Id="Rab0f21bc2cdb4a79" /><Relationship Type="http://schemas.openxmlformats.org/officeDocument/2006/relationships/officeDocument" Target="/ppt/presentation.xml" Id="Rf5a03dcf2507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991978cd94582"/>
  </p:sldMasterIdLst>
  <p:notesMasterIdLst>
    <p:notesMasterId xmlns:r="http://schemas.openxmlformats.org/officeDocument/2006/relationships" r:id="Rf456d36536b44016"/>
  </p:notesMasterIdLst>
  <p:sldIdLst>
    <p:sldId xmlns:r="http://schemas.openxmlformats.org/officeDocument/2006/relationships" id="256" r:id="R96df6a66c6ee431d"/>
    <p:sldId xmlns:r="http://schemas.openxmlformats.org/officeDocument/2006/relationships" id="257" r:id="R678c88ca06504e6b"/>
    <p:sldId xmlns:r="http://schemas.openxmlformats.org/officeDocument/2006/relationships" id="258" r:id="R2974ad0145694428"/>
    <p:sldId xmlns:r="http://schemas.openxmlformats.org/officeDocument/2006/relationships" id="259" r:id="Rba0d889659c244cf"/>
    <p:sldId xmlns:r="http://schemas.openxmlformats.org/officeDocument/2006/relationships" id="260" r:id="R9edd43faa84f43ce"/>
    <p:sldId xmlns:r="http://schemas.openxmlformats.org/officeDocument/2006/relationships" id="261" r:id="R022dab7f991a4fa7"/>
    <p:sldId xmlns:r="http://schemas.openxmlformats.org/officeDocument/2006/relationships" id="262" r:id="Rb5b2eff5d3794125"/>
    <p:sldId xmlns:r="http://schemas.openxmlformats.org/officeDocument/2006/relationships" id="263" r:id="Rfbfee01164f54863"/>
    <p:sldId xmlns:r="http://schemas.openxmlformats.org/officeDocument/2006/relationships" id="264" r:id="R05f9e9d0480340cf"/>
    <p:sldId xmlns:r="http://schemas.openxmlformats.org/officeDocument/2006/relationships" id="265" r:id="R50de800671e541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11f6c443394382" /><Relationship Type="http://schemas.openxmlformats.org/officeDocument/2006/relationships/slideMaster" Target="/ppt/slideMasters/slideMaster1.xml" Id="R9db991978cd94582" /><Relationship Type="http://schemas.openxmlformats.org/officeDocument/2006/relationships/notesMaster" Target="/ppt/notesMasters/notesMaster1.xml" Id="Rf456d36536b44016" /><Relationship Type="http://schemas.openxmlformats.org/officeDocument/2006/relationships/presProps" Target="/ppt/presProps.xml" Id="Rb605aa5f5d1a4ac6" /><Relationship Type="http://schemas.openxmlformats.org/officeDocument/2006/relationships/tableStyles" Target="/ppt/tableStyles.xml" Id="R78d05349a8ec4361" /><Relationship Type="http://schemas.openxmlformats.org/officeDocument/2006/relationships/slide" Target="/ppt/slides/slide1.xml" Id="R96df6a66c6ee431d" /><Relationship Type="http://schemas.openxmlformats.org/officeDocument/2006/relationships/slide" Target="/ppt/slides/slide2.xml" Id="R678c88ca06504e6b" /><Relationship Type="http://schemas.openxmlformats.org/officeDocument/2006/relationships/slide" Target="/ppt/slides/slide3.xml" Id="R2974ad0145694428" /><Relationship Type="http://schemas.openxmlformats.org/officeDocument/2006/relationships/slide" Target="/ppt/slides/slide4.xml" Id="Rba0d889659c244cf" /><Relationship Type="http://schemas.openxmlformats.org/officeDocument/2006/relationships/slide" Target="/ppt/slides/slide5.xml" Id="R9edd43faa84f43ce" /><Relationship Type="http://schemas.openxmlformats.org/officeDocument/2006/relationships/slide" Target="/ppt/slides/slide6.xml" Id="R022dab7f991a4fa7" /><Relationship Type="http://schemas.openxmlformats.org/officeDocument/2006/relationships/slide" Target="/ppt/slides/slide7.xml" Id="Rb5b2eff5d3794125" /><Relationship Type="http://schemas.openxmlformats.org/officeDocument/2006/relationships/slide" Target="/ppt/slides/slide8.xml" Id="Rfbfee01164f54863" /><Relationship Type="http://schemas.openxmlformats.org/officeDocument/2006/relationships/slide" Target="/ppt/slides/slide9.xml" Id="R05f9e9d0480340cf" /><Relationship Type="http://schemas.openxmlformats.org/officeDocument/2006/relationships/slide" Target="/ppt/slides/slide10.xml" Id="R50de800671e541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9ca53bfe744b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2192c94d14b06" /><Relationship Type="http://schemas.openxmlformats.org/officeDocument/2006/relationships/notesMaster" Target="/ppt/notesMasters/notesMaster1.xml" Id="R1670e3a657f34d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26013565554daa" /><Relationship Type="http://schemas.openxmlformats.org/officeDocument/2006/relationships/notesMaster" Target="/ppt/notesMasters/notesMaster1.xml" Id="R857b6ab2c1b04f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d0ae0e137f4e36" /><Relationship Type="http://schemas.openxmlformats.org/officeDocument/2006/relationships/notesMaster" Target="/ppt/notesMasters/notesMaster1.xml" Id="R453f0869e997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8cf8d5cf434944" /><Relationship Type="http://schemas.openxmlformats.org/officeDocument/2006/relationships/notesMaster" Target="/ppt/notesMasters/notesMaster1.xml" Id="R1936f3188bfc49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2b2e29d974622" /><Relationship Type="http://schemas.openxmlformats.org/officeDocument/2006/relationships/notesMaster" Target="/ppt/notesMasters/notesMaster1.xml" Id="R0a6e7be3ef4b4c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3e784bae524764" /><Relationship Type="http://schemas.openxmlformats.org/officeDocument/2006/relationships/notesMaster" Target="/ppt/notesMasters/notesMaster1.xml" Id="Rc9f64ea7179e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24ceded84486c" /><Relationship Type="http://schemas.openxmlformats.org/officeDocument/2006/relationships/notesMaster" Target="/ppt/notesMasters/notesMaster1.xml" Id="Re32612c25e3242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3d90a3d9b3450e" /><Relationship Type="http://schemas.openxmlformats.org/officeDocument/2006/relationships/notesMaster" Target="/ppt/notesMasters/notesMaster1.xml" Id="R1de4c2be390846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e00a04752048ac" /><Relationship Type="http://schemas.openxmlformats.org/officeDocument/2006/relationships/notesMaster" Target="/ppt/notesMasters/notesMaster1.xml" Id="R5d648dc156f3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1023ebd83c4a74" /><Relationship Type="http://schemas.openxmlformats.org/officeDocument/2006/relationships/notesMaster" Target="/ppt/notesMasters/notesMaster1.xml" Id="R183f9723c2124b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/gallery/best-of-v1/originals/professional-opposition.png</a:t>
            </a:r>
          </a:p>
          <a:p xmlns:a="http://schemas.openxmlformats.org/drawingml/2006/main">
            <a:r>
              <a:t>Caption: I pay for financial advice so my second-guessing has professional opposition.</a:t>
            </a:r>
          </a:p>
          <a:p xmlns:a="http://schemas.openxmlformats.org/drawingml/2006/main">
            <a:r>
              <a:t>Speaker: Barclay.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/gallery/best-of-v1/originals/divide-the-credit.png</a:t>
            </a:r>
          </a:p>
          <a:p xmlns:a="http://schemas.openxmlformats.org/drawingml/2006/main">
            <a:r>
              <a:t>Caption: I'll split the bill. You can divide the credit for predicting the market.</a:t>
            </a:r>
          </a:p>
          <a:p xmlns:a="http://schemas.openxmlformats.org/drawingml/2006/main">
            <a:r>
              <a:t>Speaker: Abby.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/gallery/city-editions-20260914/austin-taking-offers.png</a:t>
            </a:r>
          </a:p>
          <a:p xmlns:a="http://schemas.openxmlformats.org/drawingml/2006/main">
            <a:r>
              <a:t>Caption: My Austin house finally got an offer. From my realtor, to lower the price.</a:t>
            </a:r>
          </a:p>
          <a:p xmlns:a="http://schemas.openxmlformats.org/drawingml/2006/main">
            <a:r>
              <a:t>Speaker: Barclay. Source context: https://www.realtor.com/news/local/austin-tx/real-estate-market-austin-tx-august-2026/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/gallery/city-editions-20260914/los-angeles-view-included.png</a:t>
            </a:r>
          </a:p>
          <a:p xmlns:a="http://schemas.openxmlformats.org/drawingml/2006/main">
            <a:r>
              <a:t>Caption: In L.A., I’m renting the view. The house costs extra.</a:t>
            </a:r>
          </a:p>
          <a:p xmlns:a="http://schemas.openxmlformats.org/drawingml/2006/main">
            <a:r>
              <a:t>Speaker: Drew. Source context: https://gov.car.org/en/aboutus/mediacenter/newsreleases/2026releases/2qtr2026HAI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/gallery/best-of-v1/originals/individual-flakes.png</a:t>
            </a:r>
          </a:p>
          <a:p xmlns:a="http://schemas.openxmlformats.org/drawingml/2006/main">
            <a:r>
              <a:t>Caption: The cereal's the same price, but I'm beginning to recognize the individual flakes.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/gallery/best-of-v1/originals/quiet-arrivals.png</a:t>
            </a:r>
          </a:p>
          <a:p xmlns:a="http://schemas.openxmlformats.org/drawingml/2006/main">
            <a:r>
              <a:t>Caption: I'm against airport noise, except when it's bringing my grandchildren.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automation worker, queue contract and website implementation. Progress reports completed milestones, never a timer. Machine quality review does not constitute human approval. Dedicated hosting remains a future infrastructure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automation worker, queue contract and website implementation. Progress reports completed milestones, never a timer. Machine quality review does not constitute human approval. Dedicated hosting remains a future infrastructure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Effective PPI = 1024 pixels divided by print width in inches, rounded. Source: lib/cartoon-print.ts. The embedded original remains 1024 x 1536 pixels. No upsampling or press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artwork: /gallery/best-of-v1/originals/rare-opportunity-street.png</a:t>
            </a:r>
          </a:p>
          <a:p xmlns:a="http://schemas.openxmlformats.org/drawingml/2006/main">
            <a:r>
              <a:t>Caption: The listing calls it a ‘rare opportunity’—there are twelve more on the same street.</a:t>
            </a:r>
          </a:p>
          <a:p xmlns:a="http://schemas.openxmlformats.org/drawingml/2006/main">
            <a:r>
              <a:t>Speaker: Drew. Retained selected cartoon. Not a record of a real conversation.</a:t>
            </a:r>
          </a:p>
          <a:p xmlns:a="http://schemas.openxmlformats.org/drawingml/2006/main">
            <a:r>
              <a:t>No claim that this existing selected image was created by the new unattended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915bbe45240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eee5f54cc34a42" /><Relationship Type="http://schemas.openxmlformats.org/officeDocument/2006/relationships/slideLayout" Target="/ppt/slideLayouts/slideLayout1.xml" Id="Rdfa5bea462e642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a5bea462e642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0f17cee9e4b7d" /><Relationship Type="http://schemas.openxmlformats.org/officeDocument/2006/relationships/image" Target="/ppt/media/image.png" Id="R2cdea82a335c41df" /><Relationship Type="http://schemas.openxmlformats.org/officeDocument/2006/relationships/notesSlide" Target="/ppt/notesSlides/notesSlide1.xml" Id="R6eb24a7a5390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e2ae9adcc4c28" /><Relationship Type="http://schemas.openxmlformats.org/officeDocument/2006/relationships/image" Target="/ppt/media/image2.png" Id="R377dfc8fe9b142a4" /><Relationship Type="http://schemas.openxmlformats.org/officeDocument/2006/relationships/notesSlide" Target="/ppt/notesSlides/notesSlide2.xml" Id="R1d28b514766748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39fee38548d3" /><Relationship Type="http://schemas.openxmlformats.org/officeDocument/2006/relationships/image" Target="/ppt/media/image3.png" Id="R7c54ab9f320b424a" /><Relationship Type="http://schemas.openxmlformats.org/officeDocument/2006/relationships/notesSlide" Target="/ppt/notesSlides/notesSlide3.xml" Id="R44baef5ff88d4b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f8be897594818" /><Relationship Type="http://schemas.openxmlformats.org/officeDocument/2006/relationships/image" Target="/ppt/media/image4.png" Id="R8a2406f0933f4f5c" /><Relationship Type="http://schemas.openxmlformats.org/officeDocument/2006/relationships/notesSlide" Target="/ppt/notesSlides/notesSlide4.xml" Id="R28136908a0dd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d2fb189ab4b0a" /><Relationship Type="http://schemas.openxmlformats.org/officeDocument/2006/relationships/image" Target="/ppt/media/image5.png" Id="R4d95861550274d50" /><Relationship Type="http://schemas.openxmlformats.org/officeDocument/2006/relationships/notesSlide" Target="/ppt/notesSlides/notesSlide5.xml" Id="R09953564769847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efd6c305e4483" /><Relationship Type="http://schemas.openxmlformats.org/officeDocument/2006/relationships/image" Target="/ppt/media/image6.png" Id="Rade31cea7eb84497" /><Relationship Type="http://schemas.openxmlformats.org/officeDocument/2006/relationships/notesSlide" Target="/ppt/notesSlides/notesSlide6.xml" Id="R9e07aa71d2a743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4f284fc7b4218" /><Relationship Type="http://schemas.openxmlformats.org/officeDocument/2006/relationships/notesSlide" Target="/ppt/notesSlides/notesSlide7.xml" Id="R8982d0abccee48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08d651d0e4369" /><Relationship Type="http://schemas.openxmlformats.org/officeDocument/2006/relationships/notesSlide" Target="/ppt/notesSlides/notesSlide8.xml" Id="R8a15528c23cf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1655b7d82432e" /><Relationship Type="http://schemas.openxmlformats.org/officeDocument/2006/relationships/notesSlide" Target="/ppt/notesSlides/notesSlide9.xml" Id="Rc7949bc9de4e45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892ec99da4ab0" /><Relationship Type="http://schemas.openxmlformats.org/officeDocument/2006/relationships/image" Target="/ppt/media/image7.png" Id="R58b59f3c93484aae" /><Relationship Type="http://schemas.openxmlformats.org/officeDocument/2006/relationships/notesSlide" Target="/ppt/notesSlides/notesSlide10.xml" Id="Red1d89a75aef40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0E8B-739B-4BA8-BEAB-43BBE1E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Swinging Door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58038-C4B4-4830-A863-2CCAADC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Cartoons and local edition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8F67D-0408-427B-98B2-724EB31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557212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presentation for Rick Swider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September 14, 2026</a:t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Zechariah Myrick</a:t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AI Dream Builders LLC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ea82a335c41df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23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DCE0B-0B8F-4CD2-879D-9B915A8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Three familiar voices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D93FF-6577-412C-9B79-61889B4F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Drew notices the absurdity in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Barclay feels it in his wallet.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Abby has the last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matching speaking pose keeps the mouth open and the listeners turned toward the speaker.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dfc8fe9b142a4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9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5108A-43B5-4163-B5D8-E7CF240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Austin, Texas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D6B8B-7554-4152-A277-3B5AE9E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Taking Offers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B2860-FDCA-4FDB-A828-E95D067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Local housing provides the subject.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caption, television picture and chalkboard approach the same subject from different angles.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This is an existing selected cartoon. It demonstrates the target visual format.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4ab9f320b424a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99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8155F-22A1-4D9D-A8B6-2D640A53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Los Angeles, California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A47ED-C464-4FE9-AAEC-117B745E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View Is Extra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C3A81-6D43-465C-B506-E2B7148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different place and a different joke.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bar, cast and black-and-white treatment remain consistent.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This is an existing selected cartoon. Each new automated request produces its own caption and television picture.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406f0933f4f5c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256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079FB-1670-4138-A026-DFECACE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Everyday 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AE4B8-C81F-4E46-9205-A12779FD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Individual Flakes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5B5F2-7CCC-4667-8B8A-8D7DA2B5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familiar purchase supplies the setup. A concrete detail supplies the comic 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reader can enjoy the line without knowing financial jargon or reading a long explanation.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5861550274d50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98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24524-7506-458C-997B-CFC6D3D9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Local life, a light touch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8B87A-F60B-4269-9892-901D6B0B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Quiet Arrivals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2EF71-1A62-4F94-9B6E-B8B7A5C4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humor comes from a recognizable human contradiction.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Warmth matters. The editorial checks screen for partisan attacks, cruelty, weak grammar and recycled punchlines.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e31cea7eb84497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67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6BD12-2E61-475B-9FF9-43A45C7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simple generation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3F919-085B-4EDD-82FD-71811A9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733A9-9AE5-4194-9234-B90853E0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Choose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BBDDD-B5AA-40E8-B105-5F239E99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859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Enter a city, a state and a cartoon count. Generate saves the request before production starts.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ED278-A685-4201-AC9F-3680C1C0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6E15A-F2C9-4469-A495-34C1508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00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Research and 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9785F-21EC-4C16-B35F-EDD79DA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670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Dated sources guide the subject. The writer and reviewer revise the caption and matching TV and menu ideas.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8BD00-1F95-44CB-A968-D054D8E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D71F8-EFC7-4354-AA13-9ADB5705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814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Draw and assemble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677DD-2283-4264-9B39-6F46AE4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481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RTX 4090 creates TV art. The compositor preserves the room and matching cast, then adds chalk and dialogue.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68A2A-6372-400F-B2F6-8B22B00B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BF553-A6D1-47C8-A1CD-8166E718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625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5683C-52ED-49BC-BE8F-DE6240E0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292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bar follows real production stages. Finished images appear automatically with downloads and source records.</a:t>
            </a:r>
          </a:p>
        </p:txBody>
      </p:sp>
    </p:spTree>
    <p:extLst>
      <p:ext uri="{BB962C8B-B14F-4D97-AF65-F5344CB8AC3E}">
        <p14:creationId xmlns:p14="http://schemas.microsoft.com/office/powerpoint/2010/main" val="908396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7F6ED-D8C8-4E02-A9C8-497F652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system behind the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B0558-9F4C-4B4D-965B-6361B5D2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2BD92-D62F-4006-A91B-7749F67B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19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GitHub and Vercel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9E199-6ADF-44D6-ADBD-FCDDB008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0859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GitHub holds the website code and selected art. Vercel serves the website and authenticated request endpoints.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6FE8A-7759-440F-9F9D-52C6E0F6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CC7A6-602B-4B98-AA65-18B2E538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8003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Supabase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E9329-ED79-41E7-84F8-B3C56456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670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database retains the queue, job state and receipts. Private storage holds generated images and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519E4-2C25-4141-AB5A-B808607B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C3482-0BE1-49A4-8F0E-7DE908C0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814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local RTX 4090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307E7-A659-4448-8165-CBF81806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481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worker polls for due jobs and runs local models. Requests wait while the studio is offline. Completed steps have recovery checkpoints.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B963F-742B-40C6-B9AE-92AF233B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71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7A8576"/>
                </a:solidFill>
                <a:latin typeface="Georgia"/>
                <a:ea typeface="Georgia"/>
                <a:cs typeface="Georgia"/>
              </a:defRPr>
            </a:pPr>
            <a:r>
              <a:rPr sz="2775" b="0">
                <a:solidFill>
                  <a:srgbClr val="7A857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6F7F6-7CA3-4423-AE03-F931BD54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625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longer-term 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9890A-DD18-4235-930A-E8853AA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629275"/>
            <a:ext cx="942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 dedicated always-on GPU machine can take over production. It will still need monitoring, storage and recovery testing.</a:t>
            </a:r>
          </a:p>
        </p:txBody>
      </p:sp>
    </p:spTree>
    <p:extLst>
      <p:ext uri="{BB962C8B-B14F-4D97-AF65-F5344CB8AC3E}">
        <p14:creationId xmlns:p14="http://schemas.microsoft.com/office/powerpoint/2010/main" val="7277519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BB37-92F0-44BC-9E84-849897BF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Print size changes the detail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667000"/>
                <a:gridCol w="41910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Artwork size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Effective PPI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</a:rPr>
                        <a:t>Use</a:t>
                      </a:r>
                    </a:p>
                  </a:txBody>
                  <a:tcPr marL="91440" marR="91440" marT="45720" marB="45720">
                    <a:solidFill>
                      <a:srgbClr val="263A2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3.4 x 5.1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301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Fine-detail proof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4 x 6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256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Classic print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5 x 7.5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205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Medium review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6 x 9 inches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171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12A"/>
                          </a:solidFill>
                          <a:latin typeface="Georgia"/>
                          <a:ea typeface="Georgia"/>
                          <a:cs typeface="Georgia"/>
                        </a:rPr>
                        <a:t>Large review</a:t>
                      </a:r>
                    </a:p>
                  </a:txBody>
                  <a:tcPr marL="91440" marR="91440" marT="45720" marB="45720">
                    <a:solidFill>
                      <a:srgbClr val="F8F6F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F277F-791A-4587-A8E3-A4AB02BE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source is 1024 x 1536 pixels. Enlarging the picture does not create new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website exports exact-size PDFs on Letter or A4. Use Actual size in the print dialog and confirm the publication’s requirements.</a:t>
            </a:r>
          </a:p>
        </p:txBody>
      </p:sp>
    </p:spTree>
    <p:extLst>
      <p:ext uri="{BB962C8B-B14F-4D97-AF65-F5344CB8AC3E}">
        <p14:creationId xmlns:p14="http://schemas.microsoft.com/office/powerpoint/2010/main" val="848447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D696C-E686-4E2F-BB04-7431CC7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3225" b="1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An editor’s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619DE-207B-4A0E-9EE7-EE8E174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576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Cartoons, slides and newspaper layouts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8F05-D952-4DD3-999A-22B39A17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55721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The Presentation tab browses all 40 cartoons in full-screen slides.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Choose up to 12 cartoons for a print packet. Compare four artwork sizes or switch on the 11 x 17 inch newspaper layout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12A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6312A"/>
                </a:solidFill>
                <a:latin typeface="Georgia"/>
                <a:ea typeface="Georgia"/>
                <a:cs typeface="Georgia"/>
              </a:rPr>
              <a:t>Every generated edition still needs editorial review before publication.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9f3c93484aae"/>
          <a:stretch xmlns:a="http://schemas.openxmlformats.org/drawingml/2006/main"/>
        </p:blipFill>
        <p:spPr>
          <a:xfrm xmlns:a="http://schemas.openxmlformats.org/drawingml/2006/main">
            <a:off x="7429500" y="342900"/>
            <a:ext cx="4114800" cy="6172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28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2026-09-14T20:12:05.4380000Z</dcterms:created>
  <dcterms:modified xsi:type="dcterms:W3CDTF">2026-09-14T20:12:05.4380000Z</dcterms:modified>
</coreProperties>
</file>