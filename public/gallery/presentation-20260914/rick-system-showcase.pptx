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85e8b0be454fb9" /><Relationship Type="http://schemas.openxmlformats.org/officeDocument/2006/relationships/extended-properties" Target="/docProps/app.xml" Id="R757d068ac1384445" /><Relationship Type="http://schemas.openxmlformats.org/officeDocument/2006/relationships/officeDocument" Target="/ppt/presentation.xml" Id="R42b8a6a9c7614a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d43ca5b7e8404a"/>
  </p:sldMasterIdLst>
  <p:notesMasterIdLst>
    <p:notesMasterId xmlns:r="http://schemas.openxmlformats.org/officeDocument/2006/relationships" r:id="R591b26b244154c28"/>
  </p:notesMasterIdLst>
  <p:sldIdLst>
    <p:sldId xmlns:r="http://schemas.openxmlformats.org/officeDocument/2006/relationships" id="256" r:id="R7d1dbd28ebbb462f"/>
    <p:sldId xmlns:r="http://schemas.openxmlformats.org/officeDocument/2006/relationships" id="257" r:id="R9967c16a44ad44c7"/>
    <p:sldId xmlns:r="http://schemas.openxmlformats.org/officeDocument/2006/relationships" id="258" r:id="R5df1fb475f454be6"/>
    <p:sldId xmlns:r="http://schemas.openxmlformats.org/officeDocument/2006/relationships" id="259" r:id="Ra5fa5be5f7214fc7"/>
    <p:sldId xmlns:r="http://schemas.openxmlformats.org/officeDocument/2006/relationships" id="260" r:id="R2ea5576acefd4f66"/>
    <p:sldId xmlns:r="http://schemas.openxmlformats.org/officeDocument/2006/relationships" id="261" r:id="R9f894869770443d5"/>
    <p:sldId xmlns:r="http://schemas.openxmlformats.org/officeDocument/2006/relationships" id="262" r:id="R44bdae5b0ace480b"/>
    <p:sldId xmlns:r="http://schemas.openxmlformats.org/officeDocument/2006/relationships" id="263" r:id="R947446ec76cd451a"/>
    <p:sldId xmlns:r="http://schemas.openxmlformats.org/officeDocument/2006/relationships" id="264" r:id="R8e939db548484edb"/>
    <p:sldId xmlns:r="http://schemas.openxmlformats.org/officeDocument/2006/relationships" id="265" r:id="Rb1b5f8f083124b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b71b3aa837455c" /><Relationship Type="http://schemas.openxmlformats.org/officeDocument/2006/relationships/slideMaster" Target="/ppt/slideMasters/slideMaster1.xml" Id="R88d43ca5b7e8404a" /><Relationship Type="http://schemas.openxmlformats.org/officeDocument/2006/relationships/notesMaster" Target="/ppt/notesMasters/notesMaster1.xml" Id="R591b26b244154c28" /><Relationship Type="http://schemas.openxmlformats.org/officeDocument/2006/relationships/presProps" Target="/ppt/presProps.xml" Id="R0dad46b07b5a4022" /><Relationship Type="http://schemas.openxmlformats.org/officeDocument/2006/relationships/tableStyles" Target="/ppt/tableStyles.xml" Id="R3fefea2bcdf144a3" /><Relationship Type="http://schemas.openxmlformats.org/officeDocument/2006/relationships/slide" Target="/ppt/slides/slide1.xml" Id="R7d1dbd28ebbb462f" /><Relationship Type="http://schemas.openxmlformats.org/officeDocument/2006/relationships/slide" Target="/ppt/slides/slide2.xml" Id="R9967c16a44ad44c7" /><Relationship Type="http://schemas.openxmlformats.org/officeDocument/2006/relationships/slide" Target="/ppt/slides/slide3.xml" Id="R5df1fb475f454be6" /><Relationship Type="http://schemas.openxmlformats.org/officeDocument/2006/relationships/slide" Target="/ppt/slides/slide4.xml" Id="Ra5fa5be5f7214fc7" /><Relationship Type="http://schemas.openxmlformats.org/officeDocument/2006/relationships/slide" Target="/ppt/slides/slide5.xml" Id="R2ea5576acefd4f66" /><Relationship Type="http://schemas.openxmlformats.org/officeDocument/2006/relationships/slide" Target="/ppt/slides/slide6.xml" Id="R9f894869770443d5" /><Relationship Type="http://schemas.openxmlformats.org/officeDocument/2006/relationships/slide" Target="/ppt/slides/slide7.xml" Id="R44bdae5b0ace480b" /><Relationship Type="http://schemas.openxmlformats.org/officeDocument/2006/relationships/slide" Target="/ppt/slides/slide8.xml" Id="R947446ec76cd451a" /><Relationship Type="http://schemas.openxmlformats.org/officeDocument/2006/relationships/slide" Target="/ppt/slides/slide9.xml" Id="R8e939db548484edb" /><Relationship Type="http://schemas.openxmlformats.org/officeDocument/2006/relationships/slide" Target="/ppt/slides/slide10.xml" Id="Rb1b5f8f083124b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9e9815a2c04f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97d45b589949b5" /><Relationship Type="http://schemas.openxmlformats.org/officeDocument/2006/relationships/notesMaster" Target="/ppt/notesMasters/notesMaster1.xml" Id="Rd2017effd7454c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bfcb4725634bbc" /><Relationship Type="http://schemas.openxmlformats.org/officeDocument/2006/relationships/notesMaster" Target="/ppt/notesMasters/notesMaster1.xml" Id="R9549ba1a9bae4c7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9656a9912f48bb" /><Relationship Type="http://schemas.openxmlformats.org/officeDocument/2006/relationships/notesMaster" Target="/ppt/notesMasters/notesMaster1.xml" Id="R42c5bc7037204f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b47be64c8e426f" /><Relationship Type="http://schemas.openxmlformats.org/officeDocument/2006/relationships/notesMaster" Target="/ppt/notesMasters/notesMaster1.xml" Id="R13bde024b8f74e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b11c49c20e495b" /><Relationship Type="http://schemas.openxmlformats.org/officeDocument/2006/relationships/notesMaster" Target="/ppt/notesMasters/notesMaster1.xml" Id="R09f51cd332e44f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181beacb7f4822" /><Relationship Type="http://schemas.openxmlformats.org/officeDocument/2006/relationships/notesMaster" Target="/ppt/notesMasters/notesMaster1.xml" Id="Rb5a987cc97e545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2cf6b0eb994359" /><Relationship Type="http://schemas.openxmlformats.org/officeDocument/2006/relationships/notesMaster" Target="/ppt/notesMasters/notesMaster1.xml" Id="Rc2949814ef6b4c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5d6c8cce594cec" /><Relationship Type="http://schemas.openxmlformats.org/officeDocument/2006/relationships/notesMaster" Target="/ppt/notesMasters/notesMaster1.xml" Id="R5a51f360ccab49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c9793f07114c2f" /><Relationship Type="http://schemas.openxmlformats.org/officeDocument/2006/relationships/notesMaster" Target="/ppt/notesMasters/notesMaster1.xml" Id="R5844a93f7d3940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1c6de424154554" /><Relationship Type="http://schemas.openxmlformats.org/officeDocument/2006/relationships/notesMaster" Target="/ppt/notesMasters/notesMaster1.xml" Id="R6aa2f64d513745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/gallery/best-of-v1/originals/professional-opposition.png</a:t>
            </a:r>
          </a:p>
          <a:p xmlns:a="http://schemas.openxmlformats.org/drawingml/2006/main">
            <a:r>
              <a:t>Caption: I pay for financial advice so my second-guessing has professional opposition.</a:t>
            </a:r>
          </a:p>
          <a:p xmlns:a="http://schemas.openxmlformats.org/drawingml/2006/main">
            <a:r>
              <a:t>Speaker: Barclay.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/gallery/best-of-v1/originals/divide-the-credit.png</a:t>
            </a:r>
          </a:p>
          <a:p xmlns:a="http://schemas.openxmlformats.org/drawingml/2006/main">
            <a:r>
              <a:t>Caption: I'll split the bill. You can divide the credit for predicting the market.</a:t>
            </a:r>
          </a:p>
          <a:p xmlns:a="http://schemas.openxmlformats.org/drawingml/2006/main">
            <a:r>
              <a:t>Speaker: Abby.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/gallery/city-editions-20260914/austin-taking-offers.png</a:t>
            </a:r>
          </a:p>
          <a:p xmlns:a="http://schemas.openxmlformats.org/drawingml/2006/main">
            <a:r>
              <a:t>Caption: My Austin house finally got an offer. From my realtor, to lower the price.</a:t>
            </a:r>
          </a:p>
          <a:p xmlns:a="http://schemas.openxmlformats.org/drawingml/2006/main">
            <a:r>
              <a:t>Speaker: Barclay. Source context: https://www.realtor.com/news/local/austin-tx/real-estate-market-austin-tx-august-2026/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/gallery/city-editions-20260914/los-angeles-view-included.png</a:t>
            </a:r>
          </a:p>
          <a:p xmlns:a="http://schemas.openxmlformats.org/drawingml/2006/main">
            <a:r>
              <a:t>Caption: In L.A., I’m renting the view. The house costs extra.</a:t>
            </a:r>
          </a:p>
          <a:p xmlns:a="http://schemas.openxmlformats.org/drawingml/2006/main">
            <a:r>
              <a:t>Speaker: Drew. Source context: https://gov.car.org/en/aboutus/mediacenter/newsreleases/2026releases/2qtr2026HAI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/gallery/best-of-v1/originals/individual-flakes.png</a:t>
            </a:r>
          </a:p>
          <a:p xmlns:a="http://schemas.openxmlformats.org/drawingml/2006/main">
            <a:r>
              <a:t>Caption: The cereal's the same price, but I'm beginning to recognize the individual flakes.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/gallery/best-of-v1/originals/quiet-arrivals.png</a:t>
            </a:r>
          </a:p>
          <a:p xmlns:a="http://schemas.openxmlformats.org/drawingml/2006/main">
            <a:r>
              <a:t>Caption: I'm against airport noise, except when it's bringing my grandchildren.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automation worker, queue contract and website implementation. Progress reports completed milestones, never a timer. Machine quality review does not constitute human approval. Dedicated hosting remains a future infrastructure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repository automation worker, queue contract and website implementation. Progress reports completed milestones, never a timer. Machine quality review does not constitute human approval. Dedicated hosting remains a future infrastructure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Effective PPI = 1024 pixels divided by print width in inches, rounded. Source: lib/cartoon-print.ts. The embedded original remains 1024 x 1536 pixels. No upsampling or press certification.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Original artwork: /gallery/best-of-v1/originals/rare-opportunity-street.png</a:t>
            </a:r>
          </a:p>
          <a:p xmlns:a="http://schemas.openxmlformats.org/drawingml/2006/main">
            <a:r>
              <a:t>Caption: The listing calls it a ‘rare opportunity’—there are twelve more on the same street.</a:t>
            </a:r>
          </a:p>
          <a:p xmlns:a="http://schemas.openxmlformats.org/drawingml/2006/main">
            <a:r>
              <a:t>Speaker: Drew. Retained selected cartoon. Not a record of a real conversation.</a:t>
            </a:r>
          </a:p>
          <a:p xmlns:a="http://schemas.openxmlformats.org/drawingml/2006/main">
            <a:r>
              <a:t>No claim that this existing selected image was created by the new unattended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0cd5cae3044e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8eaa84720c455e" /><Relationship Type="http://schemas.openxmlformats.org/officeDocument/2006/relationships/slideLayout" Target="/ppt/slideLayouts/slideLayout1.xml" Id="Ra69dada1eaf244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9dada1eaf244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585a101d94b74" /><Relationship Type="http://schemas.openxmlformats.org/officeDocument/2006/relationships/image" Target="/ppt/media/image.png" Id="R36ac455666774988" /><Relationship Type="http://schemas.openxmlformats.org/officeDocument/2006/relationships/notesSlide" Target="/ppt/notesSlides/notesSlide1.xml" Id="Re3313553abb14b8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8b59e98994629" /><Relationship Type="http://schemas.openxmlformats.org/officeDocument/2006/relationships/image" Target="/ppt/media/image2.png" Id="Rd8156532f77c4007" /><Relationship Type="http://schemas.openxmlformats.org/officeDocument/2006/relationships/notesSlide" Target="/ppt/notesSlides/notesSlide2.xml" Id="R627a4b78707049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91c1e2a93456e" /><Relationship Type="http://schemas.openxmlformats.org/officeDocument/2006/relationships/image" Target="/ppt/media/image3.png" Id="R93dc0c27054d4770" /><Relationship Type="http://schemas.openxmlformats.org/officeDocument/2006/relationships/notesSlide" Target="/ppt/notesSlides/notesSlide3.xml" Id="Rfda7dbe9389643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999e738954eb4" /><Relationship Type="http://schemas.openxmlformats.org/officeDocument/2006/relationships/image" Target="/ppt/media/image4.png" Id="R96846d69537342b4" /><Relationship Type="http://schemas.openxmlformats.org/officeDocument/2006/relationships/notesSlide" Target="/ppt/notesSlides/notesSlide4.xml" Id="R090f260317b542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4dd3ab57640f6" /><Relationship Type="http://schemas.openxmlformats.org/officeDocument/2006/relationships/image" Target="/ppt/media/image5.png" Id="R145d74b7d5ed4cd9" /><Relationship Type="http://schemas.openxmlformats.org/officeDocument/2006/relationships/notesSlide" Target="/ppt/notesSlides/notesSlide5.xml" Id="Rb43bc357802144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d563330514552" /><Relationship Type="http://schemas.openxmlformats.org/officeDocument/2006/relationships/image" Target="/ppt/media/image6.png" Id="Rd20ce5d006d042d0" /><Relationship Type="http://schemas.openxmlformats.org/officeDocument/2006/relationships/notesSlide" Target="/ppt/notesSlides/notesSlide6.xml" Id="R6a63a4328ef442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eb2b8b5cd54e5c" /><Relationship Type="http://schemas.openxmlformats.org/officeDocument/2006/relationships/notesSlide" Target="/ppt/notesSlides/notesSlide7.xml" Id="R2bd60d0a09044f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4e3bd68fc4d39" /><Relationship Type="http://schemas.openxmlformats.org/officeDocument/2006/relationships/notesSlide" Target="/ppt/notesSlides/notesSlide8.xml" Id="R46ad36f10faf4a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c4d723bce49f3" /><Relationship Type="http://schemas.openxmlformats.org/officeDocument/2006/relationships/notesSlide" Target="/ppt/notesSlides/notesSlide9.xml" Id="R1b53ce3e860541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ec83fd8db409e" /><Relationship Type="http://schemas.openxmlformats.org/officeDocument/2006/relationships/image" Target="/ppt/media/image7.png" Id="Rfa5a5bbec4444765" /><Relationship Type="http://schemas.openxmlformats.org/officeDocument/2006/relationships/notesSlide" Target="/ppt/notesSlides/notesSlide10.xml" Id="R5a18344fc40d437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85388-F59E-4E23-921A-B85B1725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954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42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Swinging Door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76C6C-032D-4CC0-B438-517EEEF8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Cartoons and local edition production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7DCF98-ED91-4ACA-BB09-E0127551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57625"/>
            <a:ext cx="5572125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presentation for Rick Swider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September 14, 2026</a:t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Zechariah Myrick</a:t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AI Dream Builders LLC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c455666774988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5600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9512A-A485-4836-B195-8A6D2702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Three familiar voices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5E84C-7BED-429A-A357-52F72AE3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Drew notices the absurdity in the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Barclay feels it in his wallet.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Abby has the last word.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matching speaking pose keeps the mouth open and the listeners turned toward the speaker.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156532f77c4007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3099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4438F7-B193-4658-9297-BE2FCFE5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Austin, Texas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E7AB3-5C64-48E4-B644-7A0EB8B9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Taking Offers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B23F7-FB0E-4D08-8902-1449801A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Local housing provides the subject.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caption, television picture and chalkboard approach the same subject from different angles.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This is an existing selected cartoon. It demonstrates the target visual format.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dc0c27054d4770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9579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59E95-1671-4370-ACC5-D5BF36C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Los Angeles, California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8C76F-2EED-4015-A345-DEAAEA15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View Is Extra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260683-DEEF-4480-9AF6-FA3331B9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different place and a different joke.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bar, cast and black-and-white treatment remain consistent.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This is an existing selected cartoon. Each new automated request produces its own caption and television picture.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846d69537342b4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8025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35AB2-E5B1-4C38-9A3B-E5CAE1F89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Everyday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38DB9B-8C98-48E7-A814-AFE51107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Individual Flakes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492B8-9A94-4F8A-B46E-1A3E2E2F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familiar purchase supplies the setup. A concrete detail supplies the comic turn.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reader can enjoy the line without knowing financial jargon or reading a long explanation.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d74b7d5ed4cd9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1990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B1574-652C-4CEE-94E5-EE95B6C3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Local life, a light touch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F8708-8983-482B-B02B-5D47D0E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Quiet Arrivals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C2430-8E1E-46DF-9F9E-0D47000C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humor comes from a recognizable human contradiction.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Warmth matters. The editorial checks screen for partisan attacks, cruelty, weak grammar and recycled punchlines.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ce5d006d042d0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0280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CB242-B105-4E73-B50C-80BC5603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simple generation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652B5-3D0F-4B4F-BDF2-9BF120E7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51D25-8543-468F-82A8-68228B3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192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Choose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B54B76-115E-4284-8475-3046775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0859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Enter a city, a state and a cartoon count. Generate saves the request before production starts.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C65D2-A3CE-4D8D-9103-CB89138CB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E6D8F-8325-4915-A98C-6405F5FE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003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Research and write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F565E0-6EC0-462F-9B54-222F5121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2670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Dated sources guide the subject. The writer and reviewer revise the caption and matching TV and menu ideas.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EFE7F-7775-4B5A-AA1B-6AE89636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743725-D308-47CE-95AE-F1EBF617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9814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Draw and assemble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D3905-D632-4180-AA3D-6D3859B6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481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RTX 4090 creates TV art. The compositor preserves the room and matching cast, then adds chalk and dialogue.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09477E-6BB9-4A8C-9347-3E2D2A49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AB71B-D23F-4BE5-9A63-D968DAA5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1625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F99871-F661-4463-8695-21E1E1D7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6292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bar follows real production stages. Finished images appear automatically with downloads and source records.</a:t>
            </a:r>
          </a:p>
        </p:txBody>
      </p:sp>
    </p:spTree>
    <p:extLst>
      <p:ext uri="{BB962C8B-B14F-4D97-AF65-F5344CB8AC3E}">
        <p14:creationId xmlns:p14="http://schemas.microsoft.com/office/powerpoint/2010/main" val="12432610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5D8F1-F122-4E28-B2F0-A4224B2D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system behind the screen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CA94F-8B17-4C98-AD08-F52405C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10D10-280D-4DBE-891B-D7FCC200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16192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GitHub and Vercel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93DB9-E600-45AC-AF16-8A67ABE6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0859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GitHub holds the website code and selected art. Vercel serves the website and authenticated request endpoints.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182D9-86F0-4D94-B6B7-2D7E2F81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7D3A5-F024-4476-AC61-B7937166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8003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Supabase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354BC-B3D9-4981-8F65-AAD9A6B1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2670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database retains the queue, job state and receipts. Private storage holds generated images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CFC98-E562-4E89-9C1F-94A6B030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265DB-CFCD-40C5-A366-D660DBCB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9814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local RTX 4090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9AE1DD-E5D4-4D18-8D21-56A3CC7A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4481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worker polls for due jobs and runs local models. Requests wait while the studio is offline. Completed steps have recovery checkpoints.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17747-BCF6-4541-94E1-129AF5D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714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7A8576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7A8576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13D5AC-0167-4C54-A9A2-B8EEFB03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16255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longer-term host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D1FC2-0D7B-45D3-B5D7-EE05451A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629275"/>
            <a:ext cx="9429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7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 dedicated always-on GPU machine can take over production. It will still need monitoring, storage and recovery testing.</a:t>
            </a:r>
          </a:p>
        </p:txBody>
      </p:sp>
    </p:spTree>
    <p:extLst>
      <p:ext uri="{BB962C8B-B14F-4D97-AF65-F5344CB8AC3E}">
        <p14:creationId xmlns:p14="http://schemas.microsoft.com/office/powerpoint/2010/main" val="18454807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0FB3A-0307-4F94-B4E7-213EF8A3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Print size changes the detail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11049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667000"/>
                <a:gridCol w="4191000"/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Artwork size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Effective PPI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Georgia"/>
                          <a:ea typeface="Georgia"/>
                          <a:cs typeface="Georgia"/>
                        </a:rPr>
                        <a:t>Use</a:t>
                      </a:r>
                    </a:p>
                  </a:txBody>
                  <a:tcPr marL="91440" marR="91440" marT="45720" marB="45720">
                    <a:solidFill>
                      <a:srgbClr val="263A2D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3.4 x 5.1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301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Fine-detail proof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4 x 6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256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Classic print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5 x 7.5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205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Medium review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6 x 9 inches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171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6312A"/>
                          </a:solidFill>
                          <a:latin typeface="Georgia"/>
                          <a:ea typeface="Georgia"/>
                          <a:cs typeface="Georgia"/>
                        </a:rPr>
                        <a:t>Large review</a:t>
                      </a:r>
                    </a:p>
                  </a:txBody>
                  <a:tcPr marL="91440" marR="91440" marT="45720" marB="45720">
                    <a:solidFill>
                      <a:srgbClr val="F8F6F0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CE191-851C-4326-8EFE-340E97FD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10858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source is 1024 x 1536 pixels. Enlarging the picture does not create new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website exports exact-size PDFs on Letter or A4. Use Actual size in the print dialog and confirm the publication’s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048462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6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D95616-B6D0-4E28-84D1-243B15E8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628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3225" b="1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An editor’s 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7C0A1-E675-4DEB-8BBA-0D68F384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576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2025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Cartoons, slides and newspaper layouts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5E2B1-F66E-4C1A-85C9-DA3C145C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76550"/>
            <a:ext cx="5572125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The Presentation tab browses all 40 cartoons in full-screen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Choose up to 12 cartoons for a print packet. Compare four artwork sizes or switch on the 11 x 17 inch newspaper layout study.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26312A"/>
                </a:solidFill>
                <a:latin typeface="Georgia"/>
                <a:ea typeface="Georgia"/>
                <a:cs typeface="Georgia"/>
              </a:defRPr>
            </a:pPr>
            <a:r>
              <a:rPr sz="1800" b="0">
                <a:solidFill>
                  <a:srgbClr val="26312A"/>
                </a:solidFill>
                <a:latin typeface="Georgia"/>
                <a:ea typeface="Georgia"/>
                <a:cs typeface="Georgia"/>
              </a:rPr>
              <a:t>Every generated edition still needs editorial review before publication.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a5bbec4444765"/>
          <a:stretch xmlns:a="http://schemas.openxmlformats.org/drawingml/2006/main"/>
        </p:blipFill>
        <p:spPr>
          <a:xfrm xmlns:a="http://schemas.openxmlformats.org/drawingml/2006/main">
            <a:off x="7429500" y="342900"/>
            <a:ext cx="4114800" cy="6172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7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2026-09-15T02:15:57.4820000Z</dcterms:created>
  <dcterms:modified xsi:type="dcterms:W3CDTF">2026-09-15T02:15:57.4820000Z</dcterms:modified>
</coreProperties>
</file>