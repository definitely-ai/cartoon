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7e5060c69f74c07" /><Relationship Type="http://schemas.openxmlformats.org/officeDocument/2006/relationships/extended-properties" Target="/docProps/app.xml" Id="Rae5ddf5963b04fcd" /><Relationship Type="http://schemas.openxmlformats.org/officeDocument/2006/relationships/officeDocument" Target="/ppt/presentation.xml" Id="R3f14d71094ef42b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820863d864f4a94"/>
  </p:sldMasterIdLst>
  <p:notesMasterIdLst>
    <p:notesMasterId xmlns:r="http://schemas.openxmlformats.org/officeDocument/2006/relationships" r:id="Rea2bbae7c7e84342"/>
  </p:notesMasterIdLst>
  <p:sldIdLst>
    <p:sldId xmlns:r="http://schemas.openxmlformats.org/officeDocument/2006/relationships" id="256" r:id="Rea6acae933574a4b"/>
    <p:sldId xmlns:r="http://schemas.openxmlformats.org/officeDocument/2006/relationships" id="257" r:id="Re876f738922649cc"/>
    <p:sldId xmlns:r="http://schemas.openxmlformats.org/officeDocument/2006/relationships" id="258" r:id="Rf8f640e73a5a4c8d"/>
    <p:sldId xmlns:r="http://schemas.openxmlformats.org/officeDocument/2006/relationships" id="259" r:id="R16e62c32d5e048f8"/>
    <p:sldId xmlns:r="http://schemas.openxmlformats.org/officeDocument/2006/relationships" id="260" r:id="R8ffdcb1fe4244fe9"/>
    <p:sldId xmlns:r="http://schemas.openxmlformats.org/officeDocument/2006/relationships" id="261" r:id="R9d50ccff4c6f47c1"/>
    <p:sldId xmlns:r="http://schemas.openxmlformats.org/officeDocument/2006/relationships" id="262" r:id="R0c657d4a56734ace"/>
    <p:sldId xmlns:r="http://schemas.openxmlformats.org/officeDocument/2006/relationships" id="263" r:id="R16148509e7854154"/>
    <p:sldId xmlns:r="http://schemas.openxmlformats.org/officeDocument/2006/relationships" id="264" r:id="R3224ed6b5d364509"/>
    <p:sldId xmlns:r="http://schemas.openxmlformats.org/officeDocument/2006/relationships" id="265" r:id="R93a4559236314ea1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2da55af65d74c3f" /><Relationship Type="http://schemas.openxmlformats.org/officeDocument/2006/relationships/slideMaster" Target="/ppt/slideMasters/slideMaster1.xml" Id="R6820863d864f4a94" /><Relationship Type="http://schemas.openxmlformats.org/officeDocument/2006/relationships/notesMaster" Target="/ppt/notesMasters/notesMaster1.xml" Id="Rea2bbae7c7e84342" /><Relationship Type="http://schemas.openxmlformats.org/officeDocument/2006/relationships/presProps" Target="/ppt/presProps.xml" Id="R585d0608204140d9" /><Relationship Type="http://schemas.openxmlformats.org/officeDocument/2006/relationships/tableStyles" Target="/ppt/tableStyles.xml" Id="R75adcbb04a10414d" /><Relationship Type="http://schemas.openxmlformats.org/officeDocument/2006/relationships/slide" Target="/ppt/slides/slide1.xml" Id="Rea6acae933574a4b" /><Relationship Type="http://schemas.openxmlformats.org/officeDocument/2006/relationships/slide" Target="/ppt/slides/slide2.xml" Id="Re876f738922649cc" /><Relationship Type="http://schemas.openxmlformats.org/officeDocument/2006/relationships/slide" Target="/ppt/slides/slide3.xml" Id="Rf8f640e73a5a4c8d" /><Relationship Type="http://schemas.openxmlformats.org/officeDocument/2006/relationships/slide" Target="/ppt/slides/slide4.xml" Id="R16e62c32d5e048f8" /><Relationship Type="http://schemas.openxmlformats.org/officeDocument/2006/relationships/slide" Target="/ppt/slides/slide5.xml" Id="R8ffdcb1fe4244fe9" /><Relationship Type="http://schemas.openxmlformats.org/officeDocument/2006/relationships/slide" Target="/ppt/slides/slide6.xml" Id="R9d50ccff4c6f47c1" /><Relationship Type="http://schemas.openxmlformats.org/officeDocument/2006/relationships/slide" Target="/ppt/slides/slide7.xml" Id="R0c657d4a56734ace" /><Relationship Type="http://schemas.openxmlformats.org/officeDocument/2006/relationships/slide" Target="/ppt/slides/slide8.xml" Id="R16148509e7854154" /><Relationship Type="http://schemas.openxmlformats.org/officeDocument/2006/relationships/slide" Target="/ppt/slides/slide9.xml" Id="R3224ed6b5d364509" /><Relationship Type="http://schemas.openxmlformats.org/officeDocument/2006/relationships/slide" Target="/ppt/slides/slide10.xml" Id="R93a4559236314ea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5de6dfc601f448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c0b4cfacbdd4b23" /><Relationship Type="http://schemas.openxmlformats.org/officeDocument/2006/relationships/notesMaster" Target="/ppt/notesMasters/notesMaster1.xml" Id="R14e64db34013408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f11e7d3b271415e" /><Relationship Type="http://schemas.openxmlformats.org/officeDocument/2006/relationships/notesMaster" Target="/ppt/notesMasters/notesMaster1.xml" Id="R75d9832454d74bd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40d85fca6254db8" /><Relationship Type="http://schemas.openxmlformats.org/officeDocument/2006/relationships/notesMaster" Target="/ppt/notesMasters/notesMaster1.xml" Id="R4202a99b674e4b9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52c3d6cb32a4a5d" /><Relationship Type="http://schemas.openxmlformats.org/officeDocument/2006/relationships/notesMaster" Target="/ppt/notesMasters/notesMaster1.xml" Id="Ra563f1d02ede425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007e3d6409d4ad6" /><Relationship Type="http://schemas.openxmlformats.org/officeDocument/2006/relationships/notesMaster" Target="/ppt/notesMasters/notesMaster1.xml" Id="Rf2f0a3783798475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8212a7ffffb4892" /><Relationship Type="http://schemas.openxmlformats.org/officeDocument/2006/relationships/notesMaster" Target="/ppt/notesMasters/notesMaster1.xml" Id="Raca4f95504f74db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ddbf49ca6ff6489e" /><Relationship Type="http://schemas.openxmlformats.org/officeDocument/2006/relationships/notesMaster" Target="/ppt/notesMasters/notesMaster1.xml" Id="R02c6d0e6d2cb491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adfbaae1002b4c4c" /><Relationship Type="http://schemas.openxmlformats.org/officeDocument/2006/relationships/notesMaster" Target="/ppt/notesMasters/notesMaster1.xml" Id="R6773053abb504995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4dbe793bb56c4733" /><Relationship Type="http://schemas.openxmlformats.org/officeDocument/2006/relationships/notesMaster" Target="/ppt/notesMasters/notesMaster1.xml" Id="Rb91e98da95f64362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fbee0b3f96224238" /><Relationship Type="http://schemas.openxmlformats.org/officeDocument/2006/relationships/notesMaster" Target="/ppt/notesMasters/notesMaster1.xml" Id="Ree26e9711edf4a0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Original artwork: /gallery/best-of-v1/originals/professional-opposition.png</a:t>
            </a:r>
          </a:p>
          <a:p xmlns:a="http://schemas.openxmlformats.org/drawingml/2006/main">
            <a:r>
              <a:t>Caption: I pay for financial advice so my second-guessing has professional opposition.</a:t>
            </a:r>
          </a:p>
          <a:p xmlns:a="http://schemas.openxmlformats.org/drawingml/2006/main">
            <a:r>
              <a:t>Speaker: Barclay. Retained selected cartoon. Not a record of a real conversation.</a:t>
            </a:r>
          </a:p>
          <a:p xmlns:a="http://schemas.openxmlformats.org/drawingml/2006/main">
            <a:r>
              <a:t>No claim that this existing selected image was created by the new unattended run.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Original artwork: /gallery/best-of-v1/originals/divide-the-credit.png</a:t>
            </a:r>
          </a:p>
          <a:p xmlns:a="http://schemas.openxmlformats.org/drawingml/2006/main">
            <a:r>
              <a:t>Caption: I'll split the bill. You can divide the credit for predicting the market.</a:t>
            </a:r>
          </a:p>
          <a:p xmlns:a="http://schemas.openxmlformats.org/drawingml/2006/main">
            <a:r>
              <a:t>Speaker: Abby. Retained selected cartoon. Not a record of a real conversation.</a:t>
            </a:r>
          </a:p>
          <a:p xmlns:a="http://schemas.openxmlformats.org/drawingml/2006/main">
            <a:r>
              <a:t>No claim that this existing selected image was created by the new unattended run.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Original artwork: /gallery/city-editions-20260914/austin-taking-offers.png</a:t>
            </a:r>
          </a:p>
          <a:p xmlns:a="http://schemas.openxmlformats.org/drawingml/2006/main">
            <a:r>
              <a:t>Caption: My Austin house finally got an offer. From my realtor, to lower the price.</a:t>
            </a:r>
          </a:p>
          <a:p xmlns:a="http://schemas.openxmlformats.org/drawingml/2006/main">
            <a:r>
              <a:t>Speaker: Barclay. Source context: https://www.realtor.com/news/local/austin-tx/real-estate-market-austin-tx-august-2026/</a:t>
            </a:r>
          </a:p>
          <a:p xmlns:a="http://schemas.openxmlformats.org/drawingml/2006/main">
            <a:r>
              <a:t>No claim that this existing selected image was created by the new unattended run.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Original artwork: /gallery/city-editions-20260914/los-angeles-view-included.png</a:t>
            </a:r>
          </a:p>
          <a:p xmlns:a="http://schemas.openxmlformats.org/drawingml/2006/main">
            <a:r>
              <a:t>Caption: In L.A., I’m renting the view. The house costs extra.</a:t>
            </a:r>
          </a:p>
          <a:p xmlns:a="http://schemas.openxmlformats.org/drawingml/2006/main">
            <a:r>
              <a:t>Speaker: Drew. Source context: https://gov.car.org/en/aboutus/mediacenter/newsreleases/2026releases/2qtr2026HAI</a:t>
            </a:r>
          </a:p>
          <a:p xmlns:a="http://schemas.openxmlformats.org/drawingml/2006/main">
            <a:r>
              <a:t>No claim that this existing selected image was created by the new unattended run.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Original artwork: /gallery/best-of-v1/originals/individual-flakes.png</a:t>
            </a:r>
          </a:p>
          <a:p xmlns:a="http://schemas.openxmlformats.org/drawingml/2006/main">
            <a:r>
              <a:t>Caption: The cereal's the same price, but I'm beginning to recognize the individual flakes.</a:t>
            </a:r>
          </a:p>
          <a:p xmlns:a="http://schemas.openxmlformats.org/drawingml/2006/main">
            <a:r>
              <a:t>Speaker: Drew. Retained selected cartoon. Not a record of a real conversation.</a:t>
            </a:r>
          </a:p>
          <a:p xmlns:a="http://schemas.openxmlformats.org/drawingml/2006/main">
            <a:r>
              <a:t>No claim that this existing selected image was created by the new unattended run.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Original artwork: /gallery/best-of-v1/originals/quiet-arrivals.png</a:t>
            </a:r>
          </a:p>
          <a:p xmlns:a="http://schemas.openxmlformats.org/drawingml/2006/main">
            <a:r>
              <a:t>Caption: I'm against airport noise, except when it's bringing my grandchildren.</a:t>
            </a:r>
          </a:p>
          <a:p xmlns:a="http://schemas.openxmlformats.org/drawingml/2006/main">
            <a:r>
              <a:t>Speaker: Drew. Retained selected cartoon. Not a record of a real conversation.</a:t>
            </a:r>
          </a:p>
          <a:p xmlns:a="http://schemas.openxmlformats.org/drawingml/2006/main">
            <a:r>
              <a:t>No claim that this existing selected image was created by the new unattended run.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repository automation worker, queue contract and website implementation. Progress reports completed milestones, never a timer. Machine quality review does not constitute human approval. Dedicated hosting remains a future infrastructure decision.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repository automation worker, queue contract and website implementation. Progress reports completed milestones, never a timer. Machine quality review does not constitute human approval. Dedicated hosting remains a future infrastructure decision.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Effective PPI = 1024 pixels divided by print width in inches, rounded. Source: lib/cartoon-print.ts. The embedded original remains 1024 x 1536 pixels. No upsampling or press certification.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Original artwork: /gallery/best-of-v1/originals/rare-opportunity-street.png</a:t>
            </a:r>
          </a:p>
          <a:p xmlns:a="http://schemas.openxmlformats.org/drawingml/2006/main">
            <a:r>
              <a:t>Caption: The listing calls it a ‘rare opportunity’—there are twelve more on the same street.</a:t>
            </a:r>
          </a:p>
          <a:p xmlns:a="http://schemas.openxmlformats.org/drawingml/2006/main">
            <a:r>
              <a:t>Speaker: Drew. Retained selected cartoon. Not a record of a real conversation.</a:t>
            </a:r>
          </a:p>
          <a:p xmlns:a="http://schemas.openxmlformats.org/drawingml/2006/main">
            <a:r>
              <a:t>No claim that this existing selected image was created by the new unattended run.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939cca06fcb4b9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90e9fa324d446a5" /><Relationship Type="http://schemas.openxmlformats.org/officeDocument/2006/relationships/slideLayout" Target="/ppt/slideLayouts/slideLayout1.xml" Id="Rb9b03a34b57945b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9b03a34b57945b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273dd4fcb5a4a24" /><Relationship Type="http://schemas.openxmlformats.org/officeDocument/2006/relationships/image" Target="/ppt/media/image.png" Id="R08625008675947f4" /><Relationship Type="http://schemas.openxmlformats.org/officeDocument/2006/relationships/notesSlide" Target="/ppt/notesSlides/notesSlide1.xml" Id="R493ddc01d827421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6df3f1be7a04c4a" /><Relationship Type="http://schemas.openxmlformats.org/officeDocument/2006/relationships/image" Target="/ppt/media/image2.png" Id="R68e5e87d9cd54904" /><Relationship Type="http://schemas.openxmlformats.org/officeDocument/2006/relationships/notesSlide" Target="/ppt/notesSlides/notesSlide2.xml" Id="Rca44ec82a65b4d1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231b23654f446e7" /><Relationship Type="http://schemas.openxmlformats.org/officeDocument/2006/relationships/image" Target="/ppt/media/image3.png" Id="R5d0b1905667f4c91" /><Relationship Type="http://schemas.openxmlformats.org/officeDocument/2006/relationships/notesSlide" Target="/ppt/notesSlides/notesSlide3.xml" Id="Rc49a4841ec984d2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07d19430ac5467a" /><Relationship Type="http://schemas.openxmlformats.org/officeDocument/2006/relationships/image" Target="/ppt/media/image4.png" Id="R5f5f5999cc2b4a5f" /><Relationship Type="http://schemas.openxmlformats.org/officeDocument/2006/relationships/notesSlide" Target="/ppt/notesSlides/notesSlide4.xml" Id="Rfce7050564eb4ed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508e4a5ff144ffc" /><Relationship Type="http://schemas.openxmlformats.org/officeDocument/2006/relationships/image" Target="/ppt/media/image5.png" Id="Rbc6e4d07e6a34258" /><Relationship Type="http://schemas.openxmlformats.org/officeDocument/2006/relationships/notesSlide" Target="/ppt/notesSlides/notesSlide5.xml" Id="R2e4c3b7489d9437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c9ccb9a46524ac5" /><Relationship Type="http://schemas.openxmlformats.org/officeDocument/2006/relationships/image" Target="/ppt/media/image6.png" Id="Re3cb1dbd301e47cb" /><Relationship Type="http://schemas.openxmlformats.org/officeDocument/2006/relationships/notesSlide" Target="/ppt/notesSlides/notesSlide6.xml" Id="R53461909bd534ef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8a9da0297814ab8" /><Relationship Type="http://schemas.openxmlformats.org/officeDocument/2006/relationships/notesSlide" Target="/ppt/notesSlides/notesSlide7.xml" Id="Ra73efad93c1a4480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5982bbc2d354a24" /><Relationship Type="http://schemas.openxmlformats.org/officeDocument/2006/relationships/notesSlide" Target="/ppt/notesSlides/notesSlide8.xml" Id="R53da8cfaf9894917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9a2df756b0e42c3" /><Relationship Type="http://schemas.openxmlformats.org/officeDocument/2006/relationships/notesSlide" Target="/ppt/notesSlides/notesSlide9.xml" Id="Rae7f5fcaf06b4746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986b19855dd4f3d" /><Relationship Type="http://schemas.openxmlformats.org/officeDocument/2006/relationships/image" Target="/ppt/media/image7.png" Id="Rc61b5b31e4d84339" /><Relationship Type="http://schemas.openxmlformats.org/officeDocument/2006/relationships/notesSlide" Target="/ppt/notesSlides/notesSlide10.xml" Id="R5d5d329db10d4dfe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8F6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E9ECC26-9EE9-48FB-BA7B-9DE2E4037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95400"/>
            <a:ext cx="6286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200" b="1">
                <a:solidFill>
                  <a:srgbClr val="26312A"/>
                </a:solidFill>
                <a:latin typeface="Georgia"/>
                <a:ea typeface="Georgia"/>
                <a:cs typeface="Georgia"/>
              </a:defRPr>
            </a:pPr>
            <a:r>
              <a:rPr sz="4200" b="1">
                <a:solidFill>
                  <a:srgbClr val="26312A"/>
                </a:solidFill>
                <a:latin typeface="Georgia"/>
                <a:ea typeface="Georgia"/>
                <a:cs typeface="Georgia"/>
              </a:rPr>
              <a:t>The Swinging Door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6541466-BAEE-42F7-B61D-D627A4102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00350"/>
            <a:ext cx="57626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6312A"/>
                </a:solidFill>
                <a:latin typeface="Georgia"/>
                <a:ea typeface="Georgia"/>
                <a:cs typeface="Georgia"/>
              </a:defRPr>
            </a:pPr>
            <a:r>
              <a:rPr sz="2025" b="0">
                <a:solidFill>
                  <a:srgbClr val="26312A"/>
                </a:solidFill>
                <a:latin typeface="Georgia"/>
                <a:ea typeface="Georgia"/>
                <a:cs typeface="Georgia"/>
              </a:rPr>
              <a:t>Cartoons and local edition production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3E7DC6D-2C36-4089-9AF1-2DEC01844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57625"/>
            <a:ext cx="5572125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26312A"/>
                </a:solidFill>
                <a:latin typeface="Georgia"/>
                <a:ea typeface="Georgia"/>
                <a:cs typeface="Georgia"/>
              </a:defRPr>
            </a:pPr>
            <a:r>
              <a:rPr sz="1800" b="0">
                <a:solidFill>
                  <a:srgbClr val="26312A"/>
                </a:solidFill>
                <a:latin typeface="Georgia"/>
                <a:ea typeface="Georgia"/>
                <a:cs typeface="Georgia"/>
              </a:rPr>
              <a:t>A presentation for Rick Swider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00" b="0">
                <a:solidFill>
                  <a:srgbClr val="26312A"/>
                </a:solidFill>
                <a:latin typeface="Georgia"/>
                <a:ea typeface="Georgia"/>
                <a:cs typeface="Georgia"/>
              </a:defRPr>
            </a:pPr>
            <a:r>
              <a:rPr sz="1800" b="0">
                <a:solidFill>
                  <a:srgbClr val="26312A"/>
                </a:solidFill>
                <a:latin typeface="Georgia"/>
                <a:ea typeface="Georgia"/>
                <a:cs typeface="Georgia"/>
              </a:rPr>
              <a:t>September 14, 2026</a:t>
            </a:r>
          </a:p>
          <a:p xmlns:a="http://schemas.openxmlformats.org/drawingml/2006/main">
            <a:pPr>
              <a:defRPr sz="1800" b="0">
                <a:solidFill>
                  <a:srgbClr val="26312A"/>
                </a:solidFill>
                <a:latin typeface="Georgia"/>
                <a:ea typeface="Georgia"/>
                <a:cs typeface="Georgia"/>
              </a:defRPr>
            </a:pPr>
            <a:r>
              <a:rPr sz="1800" b="0">
                <a:solidFill>
                  <a:srgbClr val="26312A"/>
                </a:solidFill>
                <a:latin typeface="Georgia"/>
                <a:ea typeface="Georgia"/>
                <a:cs typeface="Georgia"/>
              </a:rPr>
              <a:t>Zechariah Myrick</a:t>
            </a:r>
          </a:p>
          <a:p xmlns:a="http://schemas.openxmlformats.org/drawingml/2006/main">
            <a:pPr>
              <a:defRPr sz="1800" b="0">
                <a:solidFill>
                  <a:srgbClr val="26312A"/>
                </a:solidFill>
                <a:latin typeface="Georgia"/>
                <a:ea typeface="Georgia"/>
                <a:cs typeface="Georgia"/>
              </a:defRPr>
            </a:pPr>
            <a:r>
              <a:rPr sz="1800" b="0">
                <a:solidFill>
                  <a:srgbClr val="26312A"/>
                </a:solidFill>
                <a:latin typeface="Georgia"/>
                <a:ea typeface="Georgia"/>
                <a:cs typeface="Georgia"/>
              </a:rPr>
              <a:t>AI Dream Builders LLC</a:t>
            </a:r>
          </a:p>
        </p:txBody>
      </p:sp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8625008675947f4"/>
          <a:stretch xmlns:a="http://schemas.openxmlformats.org/drawingml/2006/main"/>
        </p:blipFill>
        <p:spPr>
          <a:xfrm xmlns:a="http://schemas.openxmlformats.org/drawingml/2006/main">
            <a:off x="7429500" y="342900"/>
            <a:ext cx="4114800" cy="61722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703101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8F6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3A6EF5A-AC9C-4A76-89F6-8D815C8D2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85800"/>
            <a:ext cx="6286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26312A"/>
                </a:solidFill>
                <a:latin typeface="Georgia"/>
                <a:ea typeface="Georgia"/>
                <a:cs typeface="Georgia"/>
              </a:defRPr>
            </a:pPr>
            <a:r>
              <a:rPr sz="3225" b="1">
                <a:solidFill>
                  <a:srgbClr val="26312A"/>
                </a:solidFill>
                <a:latin typeface="Georgia"/>
                <a:ea typeface="Georgia"/>
                <a:cs typeface="Georgia"/>
              </a:rPr>
              <a:t>Three familiar voices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F5D7BBF-499E-41A1-9561-C229E7B1D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00300"/>
            <a:ext cx="5572125" cy="3714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26312A"/>
                </a:solidFill>
                <a:latin typeface="Georgia"/>
                <a:ea typeface="Georgia"/>
                <a:cs typeface="Georgia"/>
              </a:defRPr>
            </a:pPr>
            <a:r>
              <a:rPr sz="1800" b="0">
                <a:solidFill>
                  <a:srgbClr val="26312A"/>
                </a:solidFill>
                <a:latin typeface="Georgia"/>
                <a:ea typeface="Georgia"/>
                <a:cs typeface="Georgia"/>
              </a:rPr>
              <a:t>Drew notices the absurdity in the system.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00" b="0">
                <a:solidFill>
                  <a:srgbClr val="26312A"/>
                </a:solidFill>
                <a:latin typeface="Georgia"/>
                <a:ea typeface="Georgia"/>
                <a:cs typeface="Georgia"/>
              </a:defRPr>
            </a:pPr>
            <a:r>
              <a:rPr sz="1800" b="0">
                <a:solidFill>
                  <a:srgbClr val="26312A"/>
                </a:solidFill>
                <a:latin typeface="Georgia"/>
                <a:ea typeface="Georgia"/>
                <a:cs typeface="Georgia"/>
              </a:rPr>
              <a:t>Barclay feels it in his wallet.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00" b="0">
                <a:solidFill>
                  <a:srgbClr val="26312A"/>
                </a:solidFill>
                <a:latin typeface="Georgia"/>
                <a:ea typeface="Georgia"/>
                <a:cs typeface="Georgia"/>
              </a:defRPr>
            </a:pPr>
            <a:r>
              <a:rPr sz="1800" b="0">
                <a:solidFill>
                  <a:srgbClr val="26312A"/>
                </a:solidFill>
                <a:latin typeface="Georgia"/>
                <a:ea typeface="Georgia"/>
                <a:cs typeface="Georgia"/>
              </a:rPr>
              <a:t>Abby has the last word.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00" b="0">
                <a:solidFill>
                  <a:srgbClr val="26312A"/>
                </a:solidFill>
                <a:latin typeface="Georgia"/>
                <a:ea typeface="Georgia"/>
                <a:cs typeface="Georgia"/>
              </a:defRPr>
            </a:pPr>
            <a:r>
              <a:rPr sz="1800" b="0">
                <a:solidFill>
                  <a:srgbClr val="26312A"/>
                </a:solidFill>
                <a:latin typeface="Georgia"/>
                <a:ea typeface="Georgia"/>
                <a:cs typeface="Georgia"/>
              </a:rPr>
              <a:t>The matching speaking pose keeps the mouth open and the listeners turned toward the speaker.</a:t>
            </a:r>
          </a:p>
        </p:txBody>
      </p:sp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8e5e87d9cd54904"/>
          <a:stretch xmlns:a="http://schemas.openxmlformats.org/drawingml/2006/main"/>
        </p:blipFill>
        <p:spPr>
          <a:xfrm xmlns:a="http://schemas.openxmlformats.org/drawingml/2006/main">
            <a:off x="7429500" y="342900"/>
            <a:ext cx="4114800" cy="61722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949653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8F6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C8E015C-211E-4D3A-9872-09888D215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85800"/>
            <a:ext cx="6286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26312A"/>
                </a:solidFill>
                <a:latin typeface="Georgia"/>
                <a:ea typeface="Georgia"/>
                <a:cs typeface="Georgia"/>
              </a:defRPr>
            </a:pPr>
            <a:r>
              <a:rPr sz="3225" b="1">
                <a:solidFill>
                  <a:srgbClr val="26312A"/>
                </a:solidFill>
                <a:latin typeface="Georgia"/>
                <a:ea typeface="Georgia"/>
                <a:cs typeface="Georgia"/>
              </a:rPr>
              <a:t>Austin, Texas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714D02E-3BFA-4C32-8BC2-B66365E58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52625"/>
            <a:ext cx="57626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6312A"/>
                </a:solidFill>
                <a:latin typeface="Georgia"/>
                <a:ea typeface="Georgia"/>
                <a:cs typeface="Georgia"/>
              </a:defRPr>
            </a:pPr>
            <a:r>
              <a:rPr sz="2025" b="0">
                <a:solidFill>
                  <a:srgbClr val="26312A"/>
                </a:solidFill>
                <a:latin typeface="Georgia"/>
                <a:ea typeface="Georgia"/>
                <a:cs typeface="Georgia"/>
              </a:rPr>
              <a:t>Taking Offers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6F57702-8DC7-4B5C-BC95-C06B32C4C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76550"/>
            <a:ext cx="5572125" cy="3714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26312A"/>
                </a:solidFill>
                <a:latin typeface="Georgia"/>
                <a:ea typeface="Georgia"/>
                <a:cs typeface="Georgia"/>
              </a:defRPr>
            </a:pPr>
            <a:r>
              <a:rPr sz="1800" b="0">
                <a:solidFill>
                  <a:srgbClr val="26312A"/>
                </a:solidFill>
                <a:latin typeface="Georgia"/>
                <a:ea typeface="Georgia"/>
                <a:cs typeface="Georgia"/>
              </a:rPr>
              <a:t>Local housing provides the subject.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00" b="0">
                <a:solidFill>
                  <a:srgbClr val="26312A"/>
                </a:solidFill>
                <a:latin typeface="Georgia"/>
                <a:ea typeface="Georgia"/>
                <a:cs typeface="Georgia"/>
              </a:defRPr>
            </a:pPr>
            <a:r>
              <a:rPr sz="1800" b="0">
                <a:solidFill>
                  <a:srgbClr val="26312A"/>
                </a:solidFill>
                <a:latin typeface="Georgia"/>
                <a:ea typeface="Georgia"/>
                <a:cs typeface="Georgia"/>
              </a:rPr>
              <a:t>The caption, television picture and chalkboard approach the same subject from different angles.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00" b="0">
                <a:solidFill>
                  <a:srgbClr val="26312A"/>
                </a:solidFill>
                <a:latin typeface="Georgia"/>
                <a:ea typeface="Georgia"/>
                <a:cs typeface="Georgia"/>
              </a:defRPr>
            </a:pPr>
            <a:r>
              <a:rPr sz="1800" b="0">
                <a:solidFill>
                  <a:srgbClr val="26312A"/>
                </a:solidFill>
                <a:latin typeface="Georgia"/>
                <a:ea typeface="Georgia"/>
                <a:cs typeface="Georgia"/>
              </a:rPr>
              <a:t>This is an existing selected cartoon. It demonstrates the target visual format.</a:t>
            </a:r>
          </a:p>
        </p:txBody>
      </p:sp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d0b1905667f4c91"/>
          <a:stretch xmlns:a="http://schemas.openxmlformats.org/drawingml/2006/main"/>
        </p:blipFill>
        <p:spPr>
          <a:xfrm xmlns:a="http://schemas.openxmlformats.org/drawingml/2006/main">
            <a:off x="7429500" y="342900"/>
            <a:ext cx="4114800" cy="61722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773551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8F6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BBB7803-0698-4B06-880E-E4D25A487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85800"/>
            <a:ext cx="6286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26312A"/>
                </a:solidFill>
                <a:latin typeface="Georgia"/>
                <a:ea typeface="Georgia"/>
                <a:cs typeface="Georgia"/>
              </a:defRPr>
            </a:pPr>
            <a:r>
              <a:rPr sz="3225" b="1">
                <a:solidFill>
                  <a:srgbClr val="26312A"/>
                </a:solidFill>
                <a:latin typeface="Georgia"/>
                <a:ea typeface="Georgia"/>
                <a:cs typeface="Georgia"/>
              </a:rPr>
              <a:t>Los Angeles, California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2F29966-D287-44C8-B80D-040D48356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52625"/>
            <a:ext cx="57626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6312A"/>
                </a:solidFill>
                <a:latin typeface="Georgia"/>
                <a:ea typeface="Georgia"/>
                <a:cs typeface="Georgia"/>
              </a:defRPr>
            </a:pPr>
            <a:r>
              <a:rPr sz="2025" b="0">
                <a:solidFill>
                  <a:srgbClr val="26312A"/>
                </a:solidFill>
                <a:latin typeface="Georgia"/>
                <a:ea typeface="Georgia"/>
                <a:cs typeface="Georgia"/>
              </a:rPr>
              <a:t>The View Is Extra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A5FDFB6-85F5-4F22-94D9-617556856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76550"/>
            <a:ext cx="5572125" cy="3714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26312A"/>
                </a:solidFill>
                <a:latin typeface="Georgia"/>
                <a:ea typeface="Georgia"/>
                <a:cs typeface="Georgia"/>
              </a:defRPr>
            </a:pPr>
            <a:r>
              <a:rPr sz="1800" b="0">
                <a:solidFill>
                  <a:srgbClr val="26312A"/>
                </a:solidFill>
                <a:latin typeface="Georgia"/>
                <a:ea typeface="Georgia"/>
                <a:cs typeface="Georgia"/>
              </a:rPr>
              <a:t>A different place and a different joke.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00" b="0">
                <a:solidFill>
                  <a:srgbClr val="26312A"/>
                </a:solidFill>
                <a:latin typeface="Georgia"/>
                <a:ea typeface="Georgia"/>
                <a:cs typeface="Georgia"/>
              </a:defRPr>
            </a:pPr>
            <a:r>
              <a:rPr sz="1800" b="0">
                <a:solidFill>
                  <a:srgbClr val="26312A"/>
                </a:solidFill>
                <a:latin typeface="Georgia"/>
                <a:ea typeface="Georgia"/>
                <a:cs typeface="Georgia"/>
              </a:rPr>
              <a:t>The bar, cast and black-and-white treatment remain consistent.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00" b="0">
                <a:solidFill>
                  <a:srgbClr val="26312A"/>
                </a:solidFill>
                <a:latin typeface="Georgia"/>
                <a:ea typeface="Georgia"/>
                <a:cs typeface="Georgia"/>
              </a:defRPr>
            </a:pPr>
            <a:r>
              <a:rPr sz="1800" b="0">
                <a:solidFill>
                  <a:srgbClr val="26312A"/>
                </a:solidFill>
                <a:latin typeface="Georgia"/>
                <a:ea typeface="Georgia"/>
                <a:cs typeface="Georgia"/>
              </a:rPr>
              <a:t>This is an existing selected cartoon. Each new automated request produces its own caption and television picture.</a:t>
            </a:r>
          </a:p>
        </p:txBody>
      </p:sp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f5f5999cc2b4a5f"/>
          <a:stretch xmlns:a="http://schemas.openxmlformats.org/drawingml/2006/main"/>
        </p:blipFill>
        <p:spPr>
          <a:xfrm xmlns:a="http://schemas.openxmlformats.org/drawingml/2006/main">
            <a:off x="7429500" y="342900"/>
            <a:ext cx="4114800" cy="61722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061879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8F6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F4E58DB-697C-4D99-BF38-714056F8A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85800"/>
            <a:ext cx="6286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26312A"/>
                </a:solidFill>
                <a:latin typeface="Georgia"/>
                <a:ea typeface="Georgia"/>
                <a:cs typeface="Georgia"/>
              </a:defRPr>
            </a:pPr>
            <a:r>
              <a:rPr sz="3225" b="1">
                <a:solidFill>
                  <a:srgbClr val="26312A"/>
                </a:solidFill>
                <a:latin typeface="Georgia"/>
                <a:ea typeface="Georgia"/>
                <a:cs typeface="Georgia"/>
              </a:rPr>
              <a:t>Everyday money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FF9BC9C-71F9-47FD-B807-1236D373D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52625"/>
            <a:ext cx="57626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6312A"/>
                </a:solidFill>
                <a:latin typeface="Georgia"/>
                <a:ea typeface="Georgia"/>
                <a:cs typeface="Georgia"/>
              </a:defRPr>
            </a:pPr>
            <a:r>
              <a:rPr sz="2025" b="0">
                <a:solidFill>
                  <a:srgbClr val="26312A"/>
                </a:solidFill>
                <a:latin typeface="Georgia"/>
                <a:ea typeface="Georgia"/>
                <a:cs typeface="Georgia"/>
              </a:rPr>
              <a:t>Individual Flakes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08198F0-8E10-416F-AE63-EA9060191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76550"/>
            <a:ext cx="5572125" cy="3714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26312A"/>
                </a:solidFill>
                <a:latin typeface="Georgia"/>
                <a:ea typeface="Georgia"/>
                <a:cs typeface="Georgia"/>
              </a:defRPr>
            </a:pPr>
            <a:r>
              <a:rPr sz="1800" b="0">
                <a:solidFill>
                  <a:srgbClr val="26312A"/>
                </a:solidFill>
                <a:latin typeface="Georgia"/>
                <a:ea typeface="Georgia"/>
                <a:cs typeface="Georgia"/>
              </a:rPr>
              <a:t>A familiar purchase supplies the setup. A concrete detail supplies the comic turn.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00" b="0">
                <a:solidFill>
                  <a:srgbClr val="26312A"/>
                </a:solidFill>
                <a:latin typeface="Georgia"/>
                <a:ea typeface="Georgia"/>
                <a:cs typeface="Georgia"/>
              </a:defRPr>
            </a:pPr>
            <a:r>
              <a:rPr sz="1800" b="0">
                <a:solidFill>
                  <a:srgbClr val="26312A"/>
                </a:solidFill>
                <a:latin typeface="Georgia"/>
                <a:ea typeface="Georgia"/>
                <a:cs typeface="Georgia"/>
              </a:rPr>
              <a:t>The reader can enjoy the line without knowing financial jargon or reading a long explanation.</a:t>
            </a:r>
          </a:p>
        </p:txBody>
      </p:sp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c6e4d07e6a34258"/>
          <a:stretch xmlns:a="http://schemas.openxmlformats.org/drawingml/2006/main"/>
        </p:blipFill>
        <p:spPr>
          <a:xfrm xmlns:a="http://schemas.openxmlformats.org/drawingml/2006/main">
            <a:off x="7429500" y="342900"/>
            <a:ext cx="4114800" cy="61722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07830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8F6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F18B19F-BA96-4E1D-8FB2-5DD21C8D4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85800"/>
            <a:ext cx="6286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26312A"/>
                </a:solidFill>
                <a:latin typeface="Georgia"/>
                <a:ea typeface="Georgia"/>
                <a:cs typeface="Georgia"/>
              </a:defRPr>
            </a:pPr>
            <a:r>
              <a:rPr sz="3225" b="1">
                <a:solidFill>
                  <a:srgbClr val="26312A"/>
                </a:solidFill>
                <a:latin typeface="Georgia"/>
                <a:ea typeface="Georgia"/>
                <a:cs typeface="Georgia"/>
              </a:rPr>
              <a:t>Local life, a light touch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3FDC03B-10D3-4A00-BAEE-A8917C421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52625"/>
            <a:ext cx="57626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6312A"/>
                </a:solidFill>
                <a:latin typeface="Georgia"/>
                <a:ea typeface="Georgia"/>
                <a:cs typeface="Georgia"/>
              </a:defRPr>
            </a:pPr>
            <a:r>
              <a:rPr sz="2025" b="0">
                <a:solidFill>
                  <a:srgbClr val="26312A"/>
                </a:solidFill>
                <a:latin typeface="Georgia"/>
                <a:ea typeface="Georgia"/>
                <a:cs typeface="Georgia"/>
              </a:rPr>
              <a:t>Quiet Arrivals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B2A36D1-CCEF-4708-B40C-B445FB2BF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76550"/>
            <a:ext cx="5572125" cy="3714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26312A"/>
                </a:solidFill>
                <a:latin typeface="Georgia"/>
                <a:ea typeface="Georgia"/>
                <a:cs typeface="Georgia"/>
              </a:defRPr>
            </a:pPr>
            <a:r>
              <a:rPr sz="1800" b="0">
                <a:solidFill>
                  <a:srgbClr val="26312A"/>
                </a:solidFill>
                <a:latin typeface="Georgia"/>
                <a:ea typeface="Georgia"/>
                <a:cs typeface="Georgia"/>
              </a:rPr>
              <a:t>The humor comes from a recognizable human contradiction.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00" b="0">
                <a:solidFill>
                  <a:srgbClr val="26312A"/>
                </a:solidFill>
                <a:latin typeface="Georgia"/>
                <a:ea typeface="Georgia"/>
                <a:cs typeface="Georgia"/>
              </a:defRPr>
            </a:pPr>
            <a:r>
              <a:rPr sz="1800" b="0">
                <a:solidFill>
                  <a:srgbClr val="26312A"/>
                </a:solidFill>
                <a:latin typeface="Georgia"/>
                <a:ea typeface="Georgia"/>
                <a:cs typeface="Georgia"/>
              </a:rPr>
              <a:t>Warmth matters. The editorial checks screen for partisan attacks, cruelty, weak grammar and recycled punchlines.</a:t>
            </a:r>
          </a:p>
        </p:txBody>
      </p:sp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3cb1dbd301e47cb"/>
          <a:stretch xmlns:a="http://schemas.openxmlformats.org/drawingml/2006/main"/>
        </p:blipFill>
        <p:spPr>
          <a:xfrm xmlns:a="http://schemas.openxmlformats.org/drawingml/2006/main">
            <a:off x="7429500" y="342900"/>
            <a:ext cx="4114800" cy="61722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697405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8F6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A556F63-2EFB-4A4F-B9AF-1639FFB72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7200"/>
            <a:ext cx="10858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26312A"/>
                </a:solidFill>
                <a:latin typeface="Georgia"/>
                <a:ea typeface="Georgia"/>
                <a:cs typeface="Georgia"/>
              </a:defRPr>
            </a:pPr>
            <a:r>
              <a:rPr sz="3225" b="1">
                <a:solidFill>
                  <a:srgbClr val="26312A"/>
                </a:solidFill>
                <a:latin typeface="Georgia"/>
                <a:ea typeface="Georgia"/>
                <a:cs typeface="Georgia"/>
              </a:rPr>
              <a:t>A simple generation flow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22E971A-AD6D-4419-8F97-1267C37F5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19250"/>
            <a:ext cx="7143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775" b="0">
                <a:solidFill>
                  <a:srgbClr val="7A8576"/>
                </a:solidFill>
                <a:latin typeface="Georgia"/>
                <a:ea typeface="Georgia"/>
                <a:cs typeface="Georgia"/>
              </a:defRPr>
            </a:pPr>
            <a:r>
              <a:rPr sz="2775" b="0">
                <a:solidFill>
                  <a:srgbClr val="7A8576"/>
                </a:solidFill>
                <a:latin typeface="Georgia"/>
                <a:ea typeface="Georgia"/>
                <a:cs typeface="Georgia"/>
              </a:rPr>
              <a:t>01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8FF9C75-90BA-4B3B-84B0-2A98C3826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7325" y="1619250"/>
            <a:ext cx="9715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26312A"/>
                </a:solidFill>
                <a:latin typeface="Georgia"/>
                <a:ea typeface="Georgia"/>
                <a:cs typeface="Georgia"/>
              </a:defRPr>
            </a:pPr>
            <a:r>
              <a:rPr sz="2100" b="1">
                <a:solidFill>
                  <a:srgbClr val="26312A"/>
                </a:solidFill>
                <a:latin typeface="Georgia"/>
                <a:ea typeface="Georgia"/>
                <a:cs typeface="Georgia"/>
              </a:rPr>
              <a:t>Choose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FEDDC01-0982-4443-A582-FFF8CAEA7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7325" y="2085975"/>
            <a:ext cx="942975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26312A"/>
                </a:solidFill>
                <a:latin typeface="Georgia"/>
                <a:ea typeface="Georgia"/>
                <a:cs typeface="Georgia"/>
              </a:defRPr>
            </a:pPr>
            <a:r>
              <a:rPr sz="1725" b="0">
                <a:solidFill>
                  <a:srgbClr val="26312A"/>
                </a:solidFill>
                <a:latin typeface="Georgia"/>
                <a:ea typeface="Georgia"/>
                <a:cs typeface="Georgia"/>
              </a:rPr>
              <a:t>Enter a city, a state and a cartoon count. Generate saves the request before production starts.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4B77AB0-DE17-45FC-975B-95F264184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00350"/>
            <a:ext cx="7143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775" b="0">
                <a:solidFill>
                  <a:srgbClr val="7A8576"/>
                </a:solidFill>
                <a:latin typeface="Georgia"/>
                <a:ea typeface="Georgia"/>
                <a:cs typeface="Georgia"/>
              </a:defRPr>
            </a:pPr>
            <a:r>
              <a:rPr sz="2775" b="0">
                <a:solidFill>
                  <a:srgbClr val="7A8576"/>
                </a:solidFill>
                <a:latin typeface="Georgia"/>
                <a:ea typeface="Georgia"/>
                <a:cs typeface="Georgia"/>
              </a:rPr>
              <a:t>02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D31436A-BA62-4246-8619-ACB70AAE0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7325" y="2800350"/>
            <a:ext cx="9715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26312A"/>
                </a:solidFill>
                <a:latin typeface="Georgia"/>
                <a:ea typeface="Georgia"/>
                <a:cs typeface="Georgia"/>
              </a:defRPr>
            </a:pPr>
            <a:r>
              <a:rPr sz="2100" b="1">
                <a:solidFill>
                  <a:srgbClr val="26312A"/>
                </a:solidFill>
                <a:latin typeface="Georgia"/>
                <a:ea typeface="Georgia"/>
                <a:cs typeface="Georgia"/>
              </a:rPr>
              <a:t>Research and write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4F1F8D2-01D5-4B12-BF59-8D3D3DECD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7325" y="3267075"/>
            <a:ext cx="942975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26312A"/>
                </a:solidFill>
                <a:latin typeface="Georgia"/>
                <a:ea typeface="Georgia"/>
                <a:cs typeface="Georgia"/>
              </a:defRPr>
            </a:pPr>
            <a:r>
              <a:rPr sz="1725" b="0">
                <a:solidFill>
                  <a:srgbClr val="26312A"/>
                </a:solidFill>
                <a:latin typeface="Georgia"/>
                <a:ea typeface="Georgia"/>
                <a:cs typeface="Georgia"/>
              </a:rPr>
              <a:t>Dated sources guide the subject. The writer and reviewer revise the caption and matching TV and menu ideas.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A5ED9C8-74D1-477F-8859-517DB9B7F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81450"/>
            <a:ext cx="7143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775" b="0">
                <a:solidFill>
                  <a:srgbClr val="7A8576"/>
                </a:solidFill>
                <a:latin typeface="Georgia"/>
                <a:ea typeface="Georgia"/>
                <a:cs typeface="Georgia"/>
              </a:defRPr>
            </a:pPr>
            <a:r>
              <a:rPr sz="2775" b="0">
                <a:solidFill>
                  <a:srgbClr val="7A8576"/>
                </a:solidFill>
                <a:latin typeface="Georgia"/>
                <a:ea typeface="Georgia"/>
                <a:cs typeface="Georgia"/>
              </a:rPr>
              <a:t>03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4B604CA-1A6E-4E46-997F-9200A4A89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7325" y="3981450"/>
            <a:ext cx="9715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26312A"/>
                </a:solidFill>
                <a:latin typeface="Georgia"/>
                <a:ea typeface="Georgia"/>
                <a:cs typeface="Georgia"/>
              </a:defRPr>
            </a:pPr>
            <a:r>
              <a:rPr sz="2100" b="1">
                <a:solidFill>
                  <a:srgbClr val="26312A"/>
                </a:solidFill>
                <a:latin typeface="Georgia"/>
                <a:ea typeface="Georgia"/>
                <a:cs typeface="Georgia"/>
              </a:rPr>
              <a:t>Draw and assemble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D6F2F9D-2A03-4452-9608-46066D391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7325" y="4448175"/>
            <a:ext cx="942975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26312A"/>
                </a:solidFill>
                <a:latin typeface="Georgia"/>
                <a:ea typeface="Georgia"/>
                <a:cs typeface="Georgia"/>
              </a:defRPr>
            </a:pPr>
            <a:r>
              <a:rPr sz="1725" b="0">
                <a:solidFill>
                  <a:srgbClr val="26312A"/>
                </a:solidFill>
                <a:latin typeface="Georgia"/>
                <a:ea typeface="Georgia"/>
                <a:cs typeface="Georgia"/>
              </a:rPr>
              <a:t>The RTX 4090 creates TV art. The compositor preserves the room and matching cast, then adds chalk and dialogue.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BEE6EA3-0427-40AE-8817-B2BAF12FE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162550"/>
            <a:ext cx="7143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775" b="0">
                <a:solidFill>
                  <a:srgbClr val="7A8576"/>
                </a:solidFill>
                <a:latin typeface="Georgia"/>
                <a:ea typeface="Georgia"/>
                <a:cs typeface="Georgia"/>
              </a:defRPr>
            </a:pPr>
            <a:r>
              <a:rPr sz="2775" b="0">
                <a:solidFill>
                  <a:srgbClr val="7A8576"/>
                </a:solidFill>
                <a:latin typeface="Georgia"/>
                <a:ea typeface="Georgia"/>
                <a:cs typeface="Georgia"/>
              </a:rPr>
              <a:t>04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9E2859D-EA9D-4ABE-A91C-6DE249A39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7325" y="5162550"/>
            <a:ext cx="9715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26312A"/>
                </a:solidFill>
                <a:latin typeface="Georgia"/>
                <a:ea typeface="Georgia"/>
                <a:cs typeface="Georgia"/>
              </a:defRPr>
            </a:pPr>
            <a:r>
              <a:rPr sz="2100" b="1">
                <a:solidFill>
                  <a:srgbClr val="26312A"/>
                </a:solidFill>
                <a:latin typeface="Georgia"/>
                <a:ea typeface="Georgia"/>
                <a:cs typeface="Georgia"/>
              </a:rPr>
              <a:t>Review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13AB7C6-1274-42E6-BF1E-65F87A375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7325" y="5629275"/>
            <a:ext cx="942975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26312A"/>
                </a:solidFill>
                <a:latin typeface="Georgia"/>
                <a:ea typeface="Georgia"/>
                <a:cs typeface="Georgia"/>
              </a:defRPr>
            </a:pPr>
            <a:r>
              <a:rPr sz="1725" b="0">
                <a:solidFill>
                  <a:srgbClr val="26312A"/>
                </a:solidFill>
                <a:latin typeface="Georgia"/>
                <a:ea typeface="Georgia"/>
                <a:cs typeface="Georgia"/>
              </a:rPr>
              <a:t>The bar follows real production stages. Finished images appear automatically with downloads and source records.</a:t>
            </a:r>
          </a:p>
        </p:txBody>
      </p:sp>
    </p:spTree>
    <p:extLst>
      <p:ext uri="{BB962C8B-B14F-4D97-AF65-F5344CB8AC3E}">
        <p14:creationId xmlns:p14="http://schemas.microsoft.com/office/powerpoint/2010/main" val="115684026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8F6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182BAAF-B62C-49CC-AFBF-53E716550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7200"/>
            <a:ext cx="10858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26312A"/>
                </a:solidFill>
                <a:latin typeface="Georgia"/>
                <a:ea typeface="Georgia"/>
                <a:cs typeface="Georgia"/>
              </a:defRPr>
            </a:pPr>
            <a:r>
              <a:rPr sz="3225" b="1">
                <a:solidFill>
                  <a:srgbClr val="26312A"/>
                </a:solidFill>
                <a:latin typeface="Georgia"/>
                <a:ea typeface="Georgia"/>
                <a:cs typeface="Georgia"/>
              </a:rPr>
              <a:t>The system behind the screen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67B50B8-35A1-4FCB-9C68-3CF87E3D0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19250"/>
            <a:ext cx="7143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775" b="0">
                <a:solidFill>
                  <a:srgbClr val="7A8576"/>
                </a:solidFill>
                <a:latin typeface="Georgia"/>
                <a:ea typeface="Georgia"/>
                <a:cs typeface="Georgia"/>
              </a:defRPr>
            </a:pPr>
            <a:r>
              <a:rPr sz="2775" b="0">
                <a:solidFill>
                  <a:srgbClr val="7A8576"/>
                </a:solidFill>
                <a:latin typeface="Georgia"/>
                <a:ea typeface="Georgia"/>
                <a:cs typeface="Georgia"/>
              </a:rPr>
              <a:t>01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9ADF622-D432-4705-97DF-6C4204DD5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7325" y="1619250"/>
            <a:ext cx="9715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26312A"/>
                </a:solidFill>
                <a:latin typeface="Georgia"/>
                <a:ea typeface="Georgia"/>
                <a:cs typeface="Georgia"/>
              </a:defRPr>
            </a:pPr>
            <a:r>
              <a:rPr sz="2100" b="1">
                <a:solidFill>
                  <a:srgbClr val="26312A"/>
                </a:solidFill>
                <a:latin typeface="Georgia"/>
                <a:ea typeface="Georgia"/>
                <a:cs typeface="Georgia"/>
              </a:rPr>
              <a:t>GitHub and Vercel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5E0B255-1A8E-4E1D-B67B-4B986182F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7325" y="2085975"/>
            <a:ext cx="942975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26312A"/>
                </a:solidFill>
                <a:latin typeface="Georgia"/>
                <a:ea typeface="Georgia"/>
                <a:cs typeface="Georgia"/>
              </a:defRPr>
            </a:pPr>
            <a:r>
              <a:rPr sz="1725" b="0">
                <a:solidFill>
                  <a:srgbClr val="26312A"/>
                </a:solidFill>
                <a:latin typeface="Georgia"/>
                <a:ea typeface="Georgia"/>
                <a:cs typeface="Georgia"/>
              </a:rPr>
              <a:t>GitHub holds the website code and selected art. Vercel serves the website and authenticated request endpoints.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E64238C-EDCB-4BDF-B45D-9A7E40230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00350"/>
            <a:ext cx="7143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775" b="0">
                <a:solidFill>
                  <a:srgbClr val="7A8576"/>
                </a:solidFill>
                <a:latin typeface="Georgia"/>
                <a:ea typeface="Georgia"/>
                <a:cs typeface="Georgia"/>
              </a:defRPr>
            </a:pPr>
            <a:r>
              <a:rPr sz="2775" b="0">
                <a:solidFill>
                  <a:srgbClr val="7A8576"/>
                </a:solidFill>
                <a:latin typeface="Georgia"/>
                <a:ea typeface="Georgia"/>
                <a:cs typeface="Georgia"/>
              </a:rPr>
              <a:t>02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CAE67FA-D07A-4194-8B44-C382FAA9B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7325" y="2800350"/>
            <a:ext cx="9715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26312A"/>
                </a:solidFill>
                <a:latin typeface="Georgia"/>
                <a:ea typeface="Georgia"/>
                <a:cs typeface="Georgia"/>
              </a:defRPr>
            </a:pPr>
            <a:r>
              <a:rPr sz="2100" b="1">
                <a:solidFill>
                  <a:srgbClr val="26312A"/>
                </a:solidFill>
                <a:latin typeface="Georgia"/>
                <a:ea typeface="Georgia"/>
                <a:cs typeface="Georgia"/>
              </a:rPr>
              <a:t>Supabase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A44E6F4-058F-4C53-8D98-A2827D469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7325" y="3267075"/>
            <a:ext cx="942975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26312A"/>
                </a:solidFill>
                <a:latin typeface="Georgia"/>
                <a:ea typeface="Georgia"/>
                <a:cs typeface="Georgia"/>
              </a:defRPr>
            </a:pPr>
            <a:r>
              <a:rPr sz="1725" b="0">
                <a:solidFill>
                  <a:srgbClr val="26312A"/>
                </a:solidFill>
                <a:latin typeface="Georgia"/>
                <a:ea typeface="Georgia"/>
                <a:cs typeface="Georgia"/>
              </a:rPr>
              <a:t>The database retains the queue, job state and receipts. Private storage holds generated images and evidence.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00BCC6E-1B9E-4815-8E27-48EE63BF5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81450"/>
            <a:ext cx="7143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775" b="0">
                <a:solidFill>
                  <a:srgbClr val="7A8576"/>
                </a:solidFill>
                <a:latin typeface="Georgia"/>
                <a:ea typeface="Georgia"/>
                <a:cs typeface="Georgia"/>
              </a:defRPr>
            </a:pPr>
            <a:r>
              <a:rPr sz="2775" b="0">
                <a:solidFill>
                  <a:srgbClr val="7A8576"/>
                </a:solidFill>
                <a:latin typeface="Georgia"/>
                <a:ea typeface="Georgia"/>
                <a:cs typeface="Georgia"/>
              </a:rPr>
              <a:t>03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8BAAEC0-FC09-4D2D-81B1-5B211B2E1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7325" y="3981450"/>
            <a:ext cx="9715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26312A"/>
                </a:solidFill>
                <a:latin typeface="Georgia"/>
                <a:ea typeface="Georgia"/>
                <a:cs typeface="Georgia"/>
              </a:defRPr>
            </a:pPr>
            <a:r>
              <a:rPr sz="2100" b="1">
                <a:solidFill>
                  <a:srgbClr val="26312A"/>
                </a:solidFill>
                <a:latin typeface="Georgia"/>
                <a:ea typeface="Georgia"/>
                <a:cs typeface="Georgia"/>
              </a:rPr>
              <a:t>The local RTX 4090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08FC859-6E1B-433D-B04D-49F5F867D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7325" y="4448175"/>
            <a:ext cx="942975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26312A"/>
                </a:solidFill>
                <a:latin typeface="Georgia"/>
                <a:ea typeface="Georgia"/>
                <a:cs typeface="Georgia"/>
              </a:defRPr>
            </a:pPr>
            <a:r>
              <a:rPr sz="1725" b="0">
                <a:solidFill>
                  <a:srgbClr val="26312A"/>
                </a:solidFill>
                <a:latin typeface="Georgia"/>
                <a:ea typeface="Georgia"/>
                <a:cs typeface="Georgia"/>
              </a:rPr>
              <a:t>A worker polls for due jobs and runs local models. Requests wait while the studio is offline. Completed steps have recovery checkpoints.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45D1F8C-3B4D-46A0-8EE1-09A788448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162550"/>
            <a:ext cx="7143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775" b="0">
                <a:solidFill>
                  <a:srgbClr val="7A8576"/>
                </a:solidFill>
                <a:latin typeface="Georgia"/>
                <a:ea typeface="Georgia"/>
                <a:cs typeface="Georgia"/>
              </a:defRPr>
            </a:pPr>
            <a:r>
              <a:rPr sz="2775" b="0">
                <a:solidFill>
                  <a:srgbClr val="7A8576"/>
                </a:solidFill>
                <a:latin typeface="Georgia"/>
                <a:ea typeface="Georgia"/>
                <a:cs typeface="Georgia"/>
              </a:rPr>
              <a:t>04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AE08B41-D04E-498B-95E2-7796E7B16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7325" y="5162550"/>
            <a:ext cx="9715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26312A"/>
                </a:solidFill>
                <a:latin typeface="Georgia"/>
                <a:ea typeface="Georgia"/>
                <a:cs typeface="Georgia"/>
              </a:defRPr>
            </a:pPr>
            <a:r>
              <a:rPr sz="2100" b="1">
                <a:solidFill>
                  <a:srgbClr val="26312A"/>
                </a:solidFill>
                <a:latin typeface="Georgia"/>
                <a:ea typeface="Georgia"/>
                <a:cs typeface="Georgia"/>
              </a:rPr>
              <a:t>The longer-term host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73E8EF4-3907-49EA-8F59-7F1110596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7325" y="5629275"/>
            <a:ext cx="942975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26312A"/>
                </a:solidFill>
                <a:latin typeface="Georgia"/>
                <a:ea typeface="Georgia"/>
                <a:cs typeface="Georgia"/>
              </a:defRPr>
            </a:pPr>
            <a:r>
              <a:rPr sz="1725" b="0">
                <a:solidFill>
                  <a:srgbClr val="26312A"/>
                </a:solidFill>
                <a:latin typeface="Georgia"/>
                <a:ea typeface="Georgia"/>
                <a:cs typeface="Georgia"/>
              </a:rPr>
              <a:t>A dedicated always-on GPU machine can take over production. It will still need monitoring, storage and recovery testing.</a:t>
            </a:r>
          </a:p>
        </p:txBody>
      </p:sp>
    </p:spTree>
    <p:extLst>
      <p:ext uri="{BB962C8B-B14F-4D97-AF65-F5344CB8AC3E}">
        <p14:creationId xmlns:p14="http://schemas.microsoft.com/office/powerpoint/2010/main" val="1526478817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8F6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DF11360-14EA-412B-ADE0-AA80F02DD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7200"/>
            <a:ext cx="10858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26312A"/>
                </a:solidFill>
                <a:latin typeface="Georgia"/>
                <a:ea typeface="Georgia"/>
                <a:cs typeface="Georgia"/>
              </a:defRPr>
            </a:pPr>
            <a:r>
              <a:rPr sz="3225" b="1">
                <a:solidFill>
                  <a:srgbClr val="26312A"/>
                </a:solidFill>
                <a:latin typeface="Georgia"/>
                <a:ea typeface="Georgia"/>
                <a:cs typeface="Georgia"/>
              </a:rPr>
              <a:t>Print size changes the detail</a:t>
            </a:r>
          </a:p>
        </p:txBody>
      </p:sp>
      <p:graphicFrame>
        <p:nvGraphicFramePr>
          <p:cNvPr id="5" name=""/>
          <p:cNvGraphicFramePr/>
          <p:nvPr/>
        </p:nvGraphicFramePr>
        <p:xfrm>
          <a:off xmlns:a="http://schemas.openxmlformats.org/drawingml/2006/main" x="571500" y="1619250"/>
          <a:ext xmlns:a="http://schemas.openxmlformats.org/drawingml/2006/main" cx="11049000" cy="2952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191000"/>
                <a:gridCol w="2667000"/>
                <a:gridCol w="4191000"/>
              </a:tblGrid>
              <a:tr h="59055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Georgia"/>
                          <a:ea typeface="Georgia"/>
                          <a:cs typeface="Georgia"/>
                        </a:rPr>
                        <a:t>Artwork size</a:t>
                      </a:r>
                    </a:p>
                  </a:txBody>
                  <a:tcPr marL="91440" marR="91440" marT="45720" marB="45720">
                    <a:solidFill>
                      <a:srgbClr val="263A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Georgia"/>
                          <a:ea typeface="Georgia"/>
                          <a:cs typeface="Georgia"/>
                        </a:rPr>
                        <a:t>Effective PPI</a:t>
                      </a:r>
                    </a:p>
                  </a:txBody>
                  <a:tcPr marL="91440" marR="91440" marT="45720" marB="45720">
                    <a:solidFill>
                      <a:srgbClr val="263A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Georgia"/>
                          <a:ea typeface="Georgia"/>
                          <a:cs typeface="Georgia"/>
                        </a:rPr>
                        <a:t>Use</a:t>
                      </a:r>
                    </a:p>
                  </a:txBody>
                  <a:tcPr marL="91440" marR="91440" marT="45720" marB="45720">
                    <a:solidFill>
                      <a:srgbClr val="263A2D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6312A"/>
                          </a:solidFill>
                          <a:latin typeface="Georgia"/>
                          <a:ea typeface="Georgia"/>
                          <a:cs typeface="Georgia"/>
                        </a:rPr>
                        <a:t>3.4 x 5.1 inches</a:t>
                      </a:r>
                    </a:p>
                  </a:txBody>
                  <a:tcPr marL="91440" marR="91440" marT="45720" marB="45720">
                    <a:solidFill>
                      <a:srgbClr val="F8F6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6312A"/>
                          </a:solidFill>
                          <a:latin typeface="Georgia"/>
                          <a:ea typeface="Georgia"/>
                          <a:cs typeface="Georgia"/>
                        </a:rPr>
                        <a:t>301</a:t>
                      </a:r>
                    </a:p>
                  </a:txBody>
                  <a:tcPr marL="91440" marR="91440" marT="45720" marB="45720">
                    <a:solidFill>
                      <a:srgbClr val="F8F6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6312A"/>
                          </a:solidFill>
                          <a:latin typeface="Georgia"/>
                          <a:ea typeface="Georgia"/>
                          <a:cs typeface="Georgia"/>
                        </a:rPr>
                        <a:t>Fine-detail proof</a:t>
                      </a:r>
                    </a:p>
                  </a:txBody>
                  <a:tcPr marL="91440" marR="91440" marT="45720" marB="45720">
                    <a:solidFill>
                      <a:srgbClr val="F8F6F0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6312A"/>
                          </a:solidFill>
                          <a:latin typeface="Georgia"/>
                          <a:ea typeface="Georgia"/>
                          <a:cs typeface="Georgia"/>
                        </a:rPr>
                        <a:t>4 x 6 inches</a:t>
                      </a:r>
                    </a:p>
                  </a:txBody>
                  <a:tcPr marL="91440" marR="91440" marT="45720" marB="45720">
                    <a:solidFill>
                      <a:srgbClr val="F8F6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6312A"/>
                          </a:solidFill>
                          <a:latin typeface="Georgia"/>
                          <a:ea typeface="Georgia"/>
                          <a:cs typeface="Georgia"/>
                        </a:rPr>
                        <a:t>256</a:t>
                      </a:r>
                    </a:p>
                  </a:txBody>
                  <a:tcPr marL="91440" marR="91440" marT="45720" marB="45720">
                    <a:solidFill>
                      <a:srgbClr val="F8F6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6312A"/>
                          </a:solidFill>
                          <a:latin typeface="Georgia"/>
                          <a:ea typeface="Georgia"/>
                          <a:cs typeface="Georgia"/>
                        </a:rPr>
                        <a:t>Classic print</a:t>
                      </a:r>
                    </a:p>
                  </a:txBody>
                  <a:tcPr marL="91440" marR="91440" marT="45720" marB="45720">
                    <a:solidFill>
                      <a:srgbClr val="F8F6F0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6312A"/>
                          </a:solidFill>
                          <a:latin typeface="Georgia"/>
                          <a:ea typeface="Georgia"/>
                          <a:cs typeface="Georgia"/>
                        </a:rPr>
                        <a:t>5 x 7.5 inches</a:t>
                      </a:r>
                    </a:p>
                  </a:txBody>
                  <a:tcPr marL="91440" marR="91440" marT="45720" marB="45720">
                    <a:solidFill>
                      <a:srgbClr val="F8F6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6312A"/>
                          </a:solidFill>
                          <a:latin typeface="Georgia"/>
                          <a:ea typeface="Georgia"/>
                          <a:cs typeface="Georgia"/>
                        </a:rPr>
                        <a:t>205</a:t>
                      </a:r>
                    </a:p>
                  </a:txBody>
                  <a:tcPr marL="91440" marR="91440" marT="45720" marB="45720">
                    <a:solidFill>
                      <a:srgbClr val="F8F6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6312A"/>
                          </a:solidFill>
                          <a:latin typeface="Georgia"/>
                          <a:ea typeface="Georgia"/>
                          <a:cs typeface="Georgia"/>
                        </a:rPr>
                        <a:t>Medium review</a:t>
                      </a:r>
                    </a:p>
                  </a:txBody>
                  <a:tcPr marL="91440" marR="91440" marT="45720" marB="45720">
                    <a:solidFill>
                      <a:srgbClr val="F8F6F0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6312A"/>
                          </a:solidFill>
                          <a:latin typeface="Georgia"/>
                          <a:ea typeface="Georgia"/>
                          <a:cs typeface="Georgia"/>
                        </a:rPr>
                        <a:t>6 x 9 inches</a:t>
                      </a:r>
                    </a:p>
                  </a:txBody>
                  <a:tcPr marL="91440" marR="91440" marT="45720" marB="45720">
                    <a:solidFill>
                      <a:srgbClr val="F8F6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6312A"/>
                          </a:solidFill>
                          <a:latin typeface="Georgia"/>
                          <a:ea typeface="Georgia"/>
                          <a:cs typeface="Georgia"/>
                        </a:rPr>
                        <a:t>171</a:t>
                      </a:r>
                    </a:p>
                  </a:txBody>
                  <a:tcPr marL="91440" marR="91440" marT="45720" marB="45720">
                    <a:solidFill>
                      <a:srgbClr val="F8F6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6312A"/>
                          </a:solidFill>
                          <a:latin typeface="Georgia"/>
                          <a:ea typeface="Georgia"/>
                          <a:cs typeface="Georgia"/>
                        </a:rPr>
                        <a:t>Large review</a:t>
                      </a:r>
                    </a:p>
                  </a:txBody>
                  <a:tcPr marL="91440" marR="91440" marT="45720" marB="45720">
                    <a:solidFill>
                      <a:srgbClr val="F8F6F0"/>
                    </a:solidFill>
                  </a:tcPr>
                </a:tc>
              </a:tr>
            </a:tbl>
          </a:graphicData>
        </a:graphic>
      </p:graphicFrame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8CB1241-17EF-49E3-BA63-5947E1FEC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67300"/>
            <a:ext cx="10858500" cy="140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26312A"/>
                </a:solidFill>
                <a:latin typeface="Georgia"/>
                <a:ea typeface="Georgia"/>
                <a:cs typeface="Georgia"/>
              </a:defRPr>
            </a:pPr>
            <a:r>
              <a:rPr sz="1800" b="0">
                <a:solidFill>
                  <a:srgbClr val="26312A"/>
                </a:solidFill>
                <a:latin typeface="Georgia"/>
                <a:ea typeface="Georgia"/>
                <a:cs typeface="Georgia"/>
              </a:rPr>
              <a:t>The source is 1024 x 1536 pixels. Enlarging the picture does not create new detail.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00" b="0">
                <a:solidFill>
                  <a:srgbClr val="26312A"/>
                </a:solidFill>
                <a:latin typeface="Georgia"/>
                <a:ea typeface="Georgia"/>
                <a:cs typeface="Georgia"/>
              </a:defRPr>
            </a:pPr>
            <a:r>
              <a:rPr sz="1800" b="0">
                <a:solidFill>
                  <a:srgbClr val="26312A"/>
                </a:solidFill>
                <a:latin typeface="Georgia"/>
                <a:ea typeface="Georgia"/>
                <a:cs typeface="Georgia"/>
              </a:rPr>
              <a:t>The website exports exact-size PDFs on Letter or A4. Use Actual size in the print dialog and confirm the publication’s requirements.</a:t>
            </a:r>
          </a:p>
        </p:txBody>
      </p:sp>
    </p:spTree>
    <p:extLst>
      <p:ext uri="{BB962C8B-B14F-4D97-AF65-F5344CB8AC3E}">
        <p14:creationId xmlns:p14="http://schemas.microsoft.com/office/powerpoint/2010/main" val="1424982933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8F6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6E60FD8-700D-441A-AAB3-F36731CF7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85800"/>
            <a:ext cx="6286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26312A"/>
                </a:solidFill>
                <a:latin typeface="Georgia"/>
                <a:ea typeface="Georgia"/>
                <a:cs typeface="Georgia"/>
              </a:defRPr>
            </a:pPr>
            <a:r>
              <a:rPr sz="3225" b="1">
                <a:solidFill>
                  <a:srgbClr val="26312A"/>
                </a:solidFill>
                <a:latin typeface="Georgia"/>
                <a:ea typeface="Georgia"/>
                <a:cs typeface="Georgia"/>
              </a:rPr>
              <a:t>An editor’s view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A213A0C-2492-403C-9B92-9FEFBEB26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52625"/>
            <a:ext cx="57626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6312A"/>
                </a:solidFill>
                <a:latin typeface="Georgia"/>
                <a:ea typeface="Georgia"/>
                <a:cs typeface="Georgia"/>
              </a:defRPr>
            </a:pPr>
            <a:r>
              <a:rPr sz="2025" b="0">
                <a:solidFill>
                  <a:srgbClr val="26312A"/>
                </a:solidFill>
                <a:latin typeface="Georgia"/>
                <a:ea typeface="Georgia"/>
                <a:cs typeface="Georgia"/>
              </a:rPr>
              <a:t>Cartoons, slides and newspaper layouts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A099141-763F-4BB9-A3C5-6128E87FD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76550"/>
            <a:ext cx="5572125" cy="3714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26312A"/>
                </a:solidFill>
                <a:latin typeface="Georgia"/>
                <a:ea typeface="Georgia"/>
                <a:cs typeface="Georgia"/>
              </a:defRPr>
            </a:pPr>
            <a:r>
              <a:rPr sz="1800" b="0">
                <a:solidFill>
                  <a:srgbClr val="26312A"/>
                </a:solidFill>
                <a:latin typeface="Georgia"/>
                <a:ea typeface="Georgia"/>
                <a:cs typeface="Georgia"/>
              </a:rPr>
              <a:t>The Presentation tab browses all 40 cartoons in full-screen slides.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00" b="0">
                <a:solidFill>
                  <a:srgbClr val="26312A"/>
                </a:solidFill>
                <a:latin typeface="Georgia"/>
                <a:ea typeface="Georgia"/>
                <a:cs typeface="Georgia"/>
              </a:defRPr>
            </a:pPr>
            <a:r>
              <a:rPr sz="1800" b="0">
                <a:solidFill>
                  <a:srgbClr val="26312A"/>
                </a:solidFill>
                <a:latin typeface="Georgia"/>
                <a:ea typeface="Georgia"/>
                <a:cs typeface="Georgia"/>
              </a:rPr>
              <a:t>Choose up to 12 cartoons for a print packet. Compare four artwork sizes or switch on the 11 x 17 inch newspaper layout study.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00" b="0">
                <a:solidFill>
                  <a:srgbClr val="26312A"/>
                </a:solidFill>
                <a:latin typeface="Georgia"/>
                <a:ea typeface="Georgia"/>
                <a:cs typeface="Georgia"/>
              </a:defRPr>
            </a:pPr>
            <a:r>
              <a:rPr sz="1800" b="0">
                <a:solidFill>
                  <a:srgbClr val="26312A"/>
                </a:solidFill>
                <a:latin typeface="Georgia"/>
                <a:ea typeface="Georgia"/>
                <a:cs typeface="Georgia"/>
              </a:rPr>
              <a:t>Every generated edition still needs editorial review before publication.</a:t>
            </a:r>
          </a:p>
        </p:txBody>
      </p:sp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61b5b31e4d84339"/>
          <a:stretch xmlns:a="http://schemas.openxmlformats.org/drawingml/2006/main"/>
        </p:blipFill>
        <p:spPr>
          <a:xfrm xmlns:a="http://schemas.openxmlformats.org/drawingml/2006/main">
            <a:off x="7429500" y="342900"/>
            <a:ext cx="4114800" cy="61722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143778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2026-09-14T21:58:31.8280000Z</dcterms:created>
  <dcterms:modified xsi:type="dcterms:W3CDTF">2026-09-14T21:58:31.8280000Z</dcterms:modified>
</coreProperties>
</file>