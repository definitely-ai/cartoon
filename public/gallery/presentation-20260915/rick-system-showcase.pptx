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8eb2cbb6d7449d" /><Relationship Type="http://schemas.openxmlformats.org/officeDocument/2006/relationships/extended-properties" Target="/docProps/app.xml" Id="R9cc96c84ccc1468a" /><Relationship Type="http://schemas.openxmlformats.org/officeDocument/2006/relationships/officeDocument" Target="/ppt/presentation.xml" Id="Ra723b2cc8d724e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10c067fd1d4e42"/>
  </p:sldMasterIdLst>
  <p:notesMasterIdLst>
    <p:notesMasterId xmlns:r="http://schemas.openxmlformats.org/officeDocument/2006/relationships" r:id="R1ad22cd6539246f6"/>
  </p:notesMasterIdLst>
  <p:sldIdLst>
    <p:sldId xmlns:r="http://schemas.openxmlformats.org/officeDocument/2006/relationships" id="256" r:id="Ra27ad75c029042a4"/>
    <p:sldId xmlns:r="http://schemas.openxmlformats.org/officeDocument/2006/relationships" id="257" r:id="R15c1dba4aa964695"/>
    <p:sldId xmlns:r="http://schemas.openxmlformats.org/officeDocument/2006/relationships" id="258" r:id="R6424b277bff74815"/>
    <p:sldId xmlns:r="http://schemas.openxmlformats.org/officeDocument/2006/relationships" id="259" r:id="R67f2209f222e4ffd"/>
    <p:sldId xmlns:r="http://schemas.openxmlformats.org/officeDocument/2006/relationships" id="260" r:id="Rc8cd75b4c392434f"/>
    <p:sldId xmlns:r="http://schemas.openxmlformats.org/officeDocument/2006/relationships" id="261" r:id="Rf4d71e69e3e441ce"/>
    <p:sldId xmlns:r="http://schemas.openxmlformats.org/officeDocument/2006/relationships" id="262" r:id="R144bed41b9b14064"/>
    <p:sldId xmlns:r="http://schemas.openxmlformats.org/officeDocument/2006/relationships" id="263" r:id="R45c254e833ca480e"/>
    <p:sldId xmlns:r="http://schemas.openxmlformats.org/officeDocument/2006/relationships" id="264" r:id="R28dea8d73fea4549"/>
    <p:sldId xmlns:r="http://schemas.openxmlformats.org/officeDocument/2006/relationships" id="265" r:id="R05348e6f50e944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ab3c270df5411b" /><Relationship Type="http://schemas.openxmlformats.org/officeDocument/2006/relationships/slideMaster" Target="/ppt/slideMasters/slideMaster1.xml" Id="R6a10c067fd1d4e42" /><Relationship Type="http://schemas.openxmlformats.org/officeDocument/2006/relationships/notesMaster" Target="/ppt/notesMasters/notesMaster1.xml" Id="R1ad22cd6539246f6" /><Relationship Type="http://schemas.openxmlformats.org/officeDocument/2006/relationships/presProps" Target="/ppt/presProps.xml" Id="R717a0d9c9742424e" /><Relationship Type="http://schemas.openxmlformats.org/officeDocument/2006/relationships/tableStyles" Target="/ppt/tableStyles.xml" Id="Re18da892eb234542" /><Relationship Type="http://schemas.openxmlformats.org/officeDocument/2006/relationships/slide" Target="/ppt/slides/slide1.xml" Id="Ra27ad75c029042a4" /><Relationship Type="http://schemas.openxmlformats.org/officeDocument/2006/relationships/slide" Target="/ppt/slides/slide2.xml" Id="R15c1dba4aa964695" /><Relationship Type="http://schemas.openxmlformats.org/officeDocument/2006/relationships/slide" Target="/ppt/slides/slide3.xml" Id="R6424b277bff74815" /><Relationship Type="http://schemas.openxmlformats.org/officeDocument/2006/relationships/slide" Target="/ppt/slides/slide4.xml" Id="R67f2209f222e4ffd" /><Relationship Type="http://schemas.openxmlformats.org/officeDocument/2006/relationships/slide" Target="/ppt/slides/slide5.xml" Id="Rc8cd75b4c392434f" /><Relationship Type="http://schemas.openxmlformats.org/officeDocument/2006/relationships/slide" Target="/ppt/slides/slide6.xml" Id="Rf4d71e69e3e441ce" /><Relationship Type="http://schemas.openxmlformats.org/officeDocument/2006/relationships/slide" Target="/ppt/slides/slide7.xml" Id="R144bed41b9b14064" /><Relationship Type="http://schemas.openxmlformats.org/officeDocument/2006/relationships/slide" Target="/ppt/slides/slide8.xml" Id="R45c254e833ca480e" /><Relationship Type="http://schemas.openxmlformats.org/officeDocument/2006/relationships/slide" Target="/ppt/slides/slide9.xml" Id="R28dea8d73fea4549" /><Relationship Type="http://schemas.openxmlformats.org/officeDocument/2006/relationships/slide" Target="/ppt/slides/slide10.xml" Id="R05348e6f50e944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6a84255530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b4757df50a4135" /><Relationship Type="http://schemas.openxmlformats.org/officeDocument/2006/relationships/notesMaster" Target="/ppt/notesMasters/notesMaster1.xml" Id="Rc72d34a6de4348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30448e20114491" /><Relationship Type="http://schemas.openxmlformats.org/officeDocument/2006/relationships/notesMaster" Target="/ppt/notesMasters/notesMaster1.xml" Id="Ref75f2bca94148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88c83ab25840d9" /><Relationship Type="http://schemas.openxmlformats.org/officeDocument/2006/relationships/notesMaster" Target="/ppt/notesMasters/notesMaster1.xml" Id="Rd9d0ae93202441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de486f2585410f" /><Relationship Type="http://schemas.openxmlformats.org/officeDocument/2006/relationships/notesMaster" Target="/ppt/notesMasters/notesMaster1.xml" Id="R810c64fed67242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2571f729104931" /><Relationship Type="http://schemas.openxmlformats.org/officeDocument/2006/relationships/notesMaster" Target="/ppt/notesMasters/notesMaster1.xml" Id="R34aefaa4306742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7b42e22cd64e44" /><Relationship Type="http://schemas.openxmlformats.org/officeDocument/2006/relationships/notesMaster" Target="/ppt/notesMasters/notesMaster1.xml" Id="Ree8db7d661c54d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e115e708424404" /><Relationship Type="http://schemas.openxmlformats.org/officeDocument/2006/relationships/notesMaster" Target="/ppt/notesMasters/notesMaster1.xml" Id="R8add1eb0f36b4e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4af2425c2c42f7" /><Relationship Type="http://schemas.openxmlformats.org/officeDocument/2006/relationships/notesMaster" Target="/ppt/notesMasters/notesMaster1.xml" Id="R207f4268400e4b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babd0d8d4a4cb7" /><Relationship Type="http://schemas.openxmlformats.org/officeDocument/2006/relationships/notesMaster" Target="/ppt/notesMasters/notesMaster1.xml" Id="R8798d54434ca4d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4eb419ad0b4a1b" /><Relationship Type="http://schemas.openxmlformats.org/officeDocument/2006/relationships/notesMaster" Target="/ppt/notesMasters/notesMaster1.xml" Id="Rcbbfbc19482948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/gallery/best-of-v1/originals/professional-opposition.png</a:t>
            </a:r>
          </a:p>
          <a:p xmlns:a="http://schemas.openxmlformats.org/drawingml/2006/main">
            <a:r>
              <a:t>Caption: I pay for financial advice so my second-guessing has professional opposition.</a:t>
            </a:r>
          </a:p>
          <a:p xmlns:a="http://schemas.openxmlformats.org/drawingml/2006/main">
            <a:r>
              <a:t>Speaker: Barclay. Retained selected cartoon. Not a record of a real conversation.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/gallery/best-of-v1/originals/divide-the-credit.png</a:t>
            </a:r>
          </a:p>
          <a:p xmlns:a="http://schemas.openxmlformats.org/drawingml/2006/main">
            <a:r>
              <a:t>Caption: I'll split the bill. You can divide the credit for predicting the market.</a:t>
            </a:r>
          </a:p>
          <a:p xmlns:a="http://schemas.openxmlformats.org/drawingml/2006/main">
            <a:r>
              <a:t>Speaker: Abby. Retained selected cartoon. Not a record of a real conversation.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/gallery/city-editions-20260914/austin-taking-offers.png</a:t>
            </a:r>
          </a:p>
          <a:p xmlns:a="http://schemas.openxmlformats.org/drawingml/2006/main">
            <a:r>
              <a:t>Caption: My Austin house finally got an offer. From my realtor, to lower the price.</a:t>
            </a:r>
          </a:p>
          <a:p xmlns:a="http://schemas.openxmlformats.org/drawingml/2006/main">
            <a:r>
              <a:t>Speaker: Barclay. Source context: https://www.realtor.com/news/local/austin-tx/real-estate-market-austin-tx-august-2026/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/gallery/city-editions-20260914/los-angeles-view-included.png</a:t>
            </a:r>
          </a:p>
          <a:p xmlns:a="http://schemas.openxmlformats.org/drawingml/2006/main">
            <a:r>
              <a:t>Caption: In L.A., I’m renting the view. The house costs extra.</a:t>
            </a:r>
          </a:p>
          <a:p xmlns:a="http://schemas.openxmlformats.org/drawingml/2006/main">
            <a:r>
              <a:t>Speaker: Drew. Source context: https://gov.car.org/en/aboutus/mediacenter/newsreleases/2026releases/2qtr2026HAI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/gallery/best-of-v1/originals/individual-flakes.png</a:t>
            </a:r>
          </a:p>
          <a:p xmlns:a="http://schemas.openxmlformats.org/drawingml/2006/main">
            <a:r>
              <a:t>Caption: The cereal's the same price, but I'm beginning to recognize the individual flakes.</a:t>
            </a:r>
          </a:p>
          <a:p xmlns:a="http://schemas.openxmlformats.org/drawingml/2006/main">
            <a:r>
              <a:t>Speaker: Drew. Retained selected cartoon. Not a record of a real conversation.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/gallery/best-of-v1/originals/quiet-arrivals.png</a:t>
            </a:r>
          </a:p>
          <a:p xmlns:a="http://schemas.openxmlformats.org/drawingml/2006/main">
            <a:r>
              <a:t>Caption: I'm against airport noise, except when it's bringing my grandchildren.</a:t>
            </a:r>
          </a:p>
          <a:p xmlns:a="http://schemas.openxmlformats.org/drawingml/2006/main">
            <a:r>
              <a:t>Speaker: Drew. Retained selected cartoon. Not a record of a real conversation.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automation worker, queue contract and website implementation. Progress reports completed milestones, never a timer. Machine quality review does not constitute human approval. Dedicated hosting remains a future infrastructure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automation worker, queue contract and website implementation. Progress reports completed milestones, never a timer. Machine quality review does not constitute human approval. Dedicated hosting remains a future infrastructure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Effective PPI = 1024 pixels divided by print width in inches, rounded. Source: lib/cartoon-print.ts. The embedded original remains 1024 x 1536 pixels. No upsampling or press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/gallery/best-of-v1/originals/rare-opportunity-street.png</a:t>
            </a:r>
          </a:p>
          <a:p xmlns:a="http://schemas.openxmlformats.org/drawingml/2006/main">
            <a:r>
              <a:t>Caption: The listing calls it a ‘rare opportunity’—there are twelve more on the same street.</a:t>
            </a:r>
          </a:p>
          <a:p xmlns:a="http://schemas.openxmlformats.org/drawingml/2006/main">
            <a:r>
              <a:t>Speaker: Drew. Retained selected cartoon. Not a record of a real conversation.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228e6ce9ef48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44f80c61384900" /><Relationship Type="http://schemas.openxmlformats.org/officeDocument/2006/relationships/slideLayout" Target="/ppt/slideLayouts/slideLayout1.xml" Id="Rf2bb27aeef374c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bb27aeef374c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f0ec7b522466a" /><Relationship Type="http://schemas.openxmlformats.org/officeDocument/2006/relationships/image" Target="/ppt/media/image.png" Id="Rdc8ba2dd6c9d4000" /><Relationship Type="http://schemas.openxmlformats.org/officeDocument/2006/relationships/notesSlide" Target="/ppt/notesSlides/notesSlide1.xml" Id="R595c6c67577643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33eca5de54835" /><Relationship Type="http://schemas.openxmlformats.org/officeDocument/2006/relationships/image" Target="/ppt/media/image2.png" Id="Rdac8479169684ee0" /><Relationship Type="http://schemas.openxmlformats.org/officeDocument/2006/relationships/notesSlide" Target="/ppt/notesSlides/notesSlide2.xml" Id="Rbb9d834c299244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579895c064b20" /><Relationship Type="http://schemas.openxmlformats.org/officeDocument/2006/relationships/image" Target="/ppt/media/image3.png" Id="R5d94fb9d72de4f76" /><Relationship Type="http://schemas.openxmlformats.org/officeDocument/2006/relationships/notesSlide" Target="/ppt/notesSlides/notesSlide3.xml" Id="R924a058bfce642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787972d5d4537" /><Relationship Type="http://schemas.openxmlformats.org/officeDocument/2006/relationships/image" Target="/ppt/media/image4.png" Id="R1e66ad0933e24b6a" /><Relationship Type="http://schemas.openxmlformats.org/officeDocument/2006/relationships/notesSlide" Target="/ppt/notesSlides/notesSlide4.xml" Id="R2dd0a8d3ec8d47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2318bca1b4aae" /><Relationship Type="http://schemas.openxmlformats.org/officeDocument/2006/relationships/image" Target="/ppt/media/image5.png" Id="R86f8e2c3f8824d65" /><Relationship Type="http://schemas.openxmlformats.org/officeDocument/2006/relationships/notesSlide" Target="/ppt/notesSlides/notesSlide5.xml" Id="R9088b3ac4d404d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29a78a40149a3" /><Relationship Type="http://schemas.openxmlformats.org/officeDocument/2006/relationships/image" Target="/ppt/media/image6.png" Id="R5c9c49f0758e4351" /><Relationship Type="http://schemas.openxmlformats.org/officeDocument/2006/relationships/notesSlide" Target="/ppt/notesSlides/notesSlide6.xml" Id="Rea54b8f68e7a42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45ad8493349a9" /><Relationship Type="http://schemas.openxmlformats.org/officeDocument/2006/relationships/notesSlide" Target="/ppt/notesSlides/notesSlide7.xml" Id="R4522d9e99a1741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58c297b114bd2" /><Relationship Type="http://schemas.openxmlformats.org/officeDocument/2006/relationships/notesSlide" Target="/ppt/notesSlides/notesSlide8.xml" Id="Rcd585e4ff3ab43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b92fadd6e414c" /><Relationship Type="http://schemas.openxmlformats.org/officeDocument/2006/relationships/notesSlide" Target="/ppt/notesSlides/notesSlide9.xml" Id="R87f9e36385c14e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f0a8748d44a14" /><Relationship Type="http://schemas.openxmlformats.org/officeDocument/2006/relationships/image" Target="/ppt/media/image7.png" Id="Re34c697232e8491c" /><Relationship Type="http://schemas.openxmlformats.org/officeDocument/2006/relationships/notesSlide" Target="/ppt/notesSlides/notesSlide10.xml" Id="R5bbf7a53aa3340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09464-8650-461C-BC31-C15B39B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Swinging Door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1A335-796F-4FB9-BC83-6EA57B52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Cartoons and local edition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E8361-4A2F-4CF6-A6B4-B4387511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55721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presentation for Rick Swider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September 15, 2026</a:t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Zechariah Myrick</a:t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AI Dream Builders LLC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ba2dd6c9d4000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98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0F694-8EF0-45BD-8E48-989F762B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Three familiar voices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AFF47-8127-45AA-AEF7-34E95A62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55721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Drew notices the absurdity in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Barclay feels it in his wallet.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Abby has the last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matching speaking pose keeps the mouth open and the listeners turned toward the speaker.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8479169684ee0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10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12DEF-4F63-4A9F-8D7F-04954BE5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Austin, Texas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88055-77DA-4A60-9215-C0DD28B9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Taking Offers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A1007-DC64-40C2-9DA4-07C31919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557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Barclay: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2AD02-5638-470C-84B1-E33EC856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5953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“My Austin house finally got an offer. From my realtor, to lower the price.”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3D1A5-F2DA-4EE6-98E3-3DB49F59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5953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Housing supplies the subject. The TV sets it up, the caption turns it, and the chalkboard adds a second joke.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Selected example from the gallery, not the result of a new live request.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4fb9d72de4f76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30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5C94B-71C8-4268-BD32-75F331D8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Los Angeles, California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8978B-41A1-498C-8ED6-C6C943E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View Is Extra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7B130-8B1A-4B92-B77D-ACAECCBA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557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Drew: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033F3-9CAA-4535-A41A-82D46320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5953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“In L.A., I’m renting the view. The house costs extra.”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14356-6AC0-40DA-A1CC-A943C391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5953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different city and a different joke, with the same familiar room and 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Selected example from the gallery. New requests need their own local research and artwork.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6ad0933e24b6a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29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473E8-4B8E-4D1B-94C1-90D8A93B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Everyday money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154DB-1633-4BE4-8574-894EDCEC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Individual Flakes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97216-C759-4865-981F-4BC184CD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557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Drew: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38491-7CA4-4AF0-B80D-F64BA161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5953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“The cereal's the same price, but I'm beginning to recognize the individual flakes.”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C2902-5420-4CEE-8149-9FADC992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5953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familiar purchase makes the setup immediate. The reader needs no financial jargon to enjoy the line.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8e2c3f8824d65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9340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B76F7-7AB1-4D8C-B42C-89BB5E22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Local life, a light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418B7-474B-4042-B42F-62E025C2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Quiet Arrivals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DDD0D-4C2E-4958-AA8A-DFA03A92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557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Drew: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C23B5-8DB4-4574-994A-B83F4270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5953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“I'm against airport noise, except when it's bringing my grandchildren.”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F2624-E589-4C75-8CD3-082C495A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5953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joke finds a recognizable contradiction without taking a political side.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editorial review checks warmth, clarity and originality before publication.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c49f0758e4351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41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8A080-9944-4AFF-8D0F-214F66E5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simple generation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98134-5394-4D75-8558-3F95F2F4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A9E5B-40D9-468B-A1E9-D75A521F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Choose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7E7B7-5E36-4AC1-9F9F-41841E73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859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Enter a city, a state and a cartoon count. Generate saves the request before production starts.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5CC49-3764-4888-B21F-CE131E21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33AC2-C403-40C4-985D-A29C8081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003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Research and 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BAC67-3962-4B22-935D-D4D8D20B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670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Dated sources guide the subject. The writer and reviewer revise the caption and matching TV and chalkboard ideas.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B04D2-5303-4529-8317-928E6E20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ABA73-E3BF-4ED3-85EA-F7239627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814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Draw and assemble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5E784-A75A-4FA8-8222-EB0A87F1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481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RTX 4090 creates TV art. The compositor preserves the room and matching cast, then adds chalk and dialogue.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2684F-E405-4E70-8407-96932AFB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48F70-6603-4246-8AF3-0298F915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625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86244-1F84-4428-9C29-20F912DB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6292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Progress reports completed stages, not a time estimate. Finished images appear with downloads and source records.</a:t>
            </a:r>
          </a:p>
        </p:txBody>
      </p:sp>
    </p:spTree>
    <p:extLst>
      <p:ext uri="{BB962C8B-B14F-4D97-AF65-F5344CB8AC3E}">
        <p14:creationId xmlns:p14="http://schemas.microsoft.com/office/powerpoint/2010/main" val="1137191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D0B3D-E6A2-4D78-98D2-7DF58A83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system behind the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92E90-19BE-499E-8E59-0216D30C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44981-7E80-409A-A9BB-8E73284B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GitHub and Vercel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5B82A-F3C6-4643-B72B-8A30C0F3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859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GitHub holds the code and selected art. Vercel serves the website and authenticated request endpoints.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034A2-1A44-454E-A367-F9146C52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F32BB-74CE-4B4E-B0E0-8FEFA8E0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003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Supabase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6B2B5-B38D-4F90-B759-BE92CE82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670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database retains the queue and recovery checkpoints. Private storage holds generated images and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51432-6A03-4B94-8629-C04F59C7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43B1A-CD9C-4940-B31E-484FF9EF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814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local RTX 4090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D7F7C-E78A-4BA1-816F-25754793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481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Requests wait when the PC is offline or its GPU is busy. The latest approved cast still awaits activation in the scheduled worker.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966A7-C3C1-46A2-843F-423E758D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DBAE1-2B9E-411C-B154-6494290B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625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longer-term host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A52D1-F093-47D7-8D5B-8B021322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6292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dedicated always-on GPU can replace the PC. Monitoring and a tested recovery process remain essential.</a:t>
            </a:r>
          </a:p>
        </p:txBody>
      </p:sp>
    </p:spTree>
    <p:extLst>
      <p:ext uri="{BB962C8B-B14F-4D97-AF65-F5344CB8AC3E}">
        <p14:creationId xmlns:p14="http://schemas.microsoft.com/office/powerpoint/2010/main" val="1706024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0D8CC-8532-4E08-8AC7-F24CD9C9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Print size changes the detail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667000"/>
                <a:gridCol w="4191000"/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Artwork size</a:t>
                      </a:r>
                    </a:p>
                  </a:txBody>
                  <a:tcPr marL="91440" marR="91440" marT="45720" marB="45720">
                    <a:solidFill>
                      <a:srgbClr val="263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Effective PPI</a:t>
                      </a:r>
                    </a:p>
                  </a:txBody>
                  <a:tcPr marL="91440" marR="91440" marT="45720" marB="45720">
                    <a:solidFill>
                      <a:srgbClr val="263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Use</a:t>
                      </a:r>
                    </a:p>
                  </a:txBody>
                  <a:tcPr marL="91440" marR="91440" marT="45720" marB="45720">
                    <a:solidFill>
                      <a:srgbClr val="263A2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3.4 x 5.1 inches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301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Fine-detail proof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4 x 6 inches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256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Classic print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5 x 7.5 inches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205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Medium review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6 x 9 inches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171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Large review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F74FD-A1B8-4977-B3A6-8D100432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source is 1024 x 1536 pixels. Enlarging the picture does not create new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website exports exact-size PDFs on Letter or A4. Use Actual size in the print dialog and confirm the publication’s requirements.</a:t>
            </a:r>
          </a:p>
        </p:txBody>
      </p:sp>
    </p:spTree>
    <p:extLst>
      <p:ext uri="{BB962C8B-B14F-4D97-AF65-F5344CB8AC3E}">
        <p14:creationId xmlns:p14="http://schemas.microsoft.com/office/powerpoint/2010/main" val="66259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9C8BA5-EDFB-4973-831B-181A1F73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An editor’s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F7A51-6D20-420F-87BC-214010DE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Cartoons, slides and newspaper layouts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FFA06-726B-4876-AEBC-625218FA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5721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Presentation tab browses all 40 cartoons in full-screen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Choose up to 12 cartoons for a print packet. Compare four artwork sizes or switch on the 11 x 17 inch newspaper layout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Every generated edition still needs editorial review before publication.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4c697232e8491c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01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2026-09-15T13:12:20.2610000Z</dcterms:created>
  <dcterms:modified xsi:type="dcterms:W3CDTF">2026-09-15T13:12:20.2610000Z</dcterms:modified>
</coreProperties>
</file>